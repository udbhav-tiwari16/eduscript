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94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2B99B-88B3-4DC7-AB4F-78EFBD36AD97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BD553-DF3C-42D2-9716-5AEC36F892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7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BD553-DF3C-42D2-9716-5AEC36F8927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3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114800" cy="41148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FDBFE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COMPILER DESIGN </a:t>
            </a:r>
            <a:r>
              <a:rPr dirty="0" smtClean="0">
                <a:solidFill>
                  <a:schemeClr val="tx1"/>
                </a:solidFill>
              </a:rPr>
              <a:t>LAB </a:t>
            </a:r>
            <a:r>
              <a:rPr lang="en-IN" dirty="0" smtClean="0">
                <a:solidFill>
                  <a:schemeClr val="tx1"/>
                </a:solidFill>
              </a:rPr>
              <a:t>-</a:t>
            </a:r>
            <a:r>
              <a:rPr dirty="0" smtClean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rPr dirty="0" err="1"/>
              <a:t>EduScript</a:t>
            </a:r>
            <a:r>
              <a:rPr dirty="0"/>
              <a:t>: A Customizable Lightweight</a:t>
            </a:r>
            <a:br>
              <a:rPr dirty="0"/>
            </a:br>
            <a:r>
              <a:rPr dirty="0"/>
              <a:t>Compiler and 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End-to-End Compiler Pipeline: Lexical Analysis → Recursive Descent Parser → AST → Scoped Symbol Table → Semantic Analyzer → Three-Address Code (TAC) → Virtual Machine Interpreter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rPr dirty="0"/>
              <a:t>STUDENT NAME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rPr dirty="0" err="1"/>
              <a:t>Udbhav</a:t>
            </a:r>
            <a:r>
              <a:rPr dirty="0"/>
              <a:t> </a:t>
            </a:r>
            <a:r>
              <a:rPr dirty="0" err="1"/>
              <a:t>Tiwari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56616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REGISTER NUMBER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24BCT0328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rPr dirty="0"/>
              <a:t>COURSE &amp; REVIEW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rPr dirty="0"/>
              <a:t>CD Lab • Review 3 (Final)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PROJECT TYPE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Individual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Complete Compiler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Complete 5-Stage Compiler Pipeline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1. Lexical Analysis (lexer.py): </a:t>
            </a:r>
            <a:r>
              <a:rPr sz="1300" b="0">
                <a:solidFill>
                  <a:srgbClr val="0F172A"/>
                </a:solidFill>
              </a:rPr>
              <a:t>Tokenizes raw source with exact line/col tracking and normalizes custom keywords (agar, jabtak, purnaank, etc.) via JSON mappings.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2. Syntax Analysis (parser.py): </a:t>
            </a:r>
            <a:r>
              <a:rPr sz="1300" b="0">
                <a:solidFill>
                  <a:srgbClr val="0F172A"/>
                </a:solidFill>
              </a:rPr>
              <a:t>Recursive descent parsing with full precedence climbing; constructs structured Abstract Syntax Trees with panic-mode recovery.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3. Semantic Analysis (semantic_analyzer.py): </a:t>
            </a:r>
            <a:r>
              <a:rPr sz="1300" b="0">
                <a:solidFill>
                  <a:srgbClr val="0F172A"/>
                </a:solidFill>
              </a:rPr>
              <a:t>Enforces static type checking, scoped symbol table lookups, variable shadowing, and diagnostic validation.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4. Intermediate Code (tac_generator.py): </a:t>
            </a:r>
            <a:r>
              <a:rPr sz="1300" b="0">
                <a:solidFill>
                  <a:srgbClr val="0F172A"/>
                </a:solidFill>
              </a:rPr>
              <a:t>Emits linearized Three-Address Code (TAC) with temporary registers (t0, t1...) and jump labels (L0, L1...).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5. Execution Engine (interpreter.py): </a:t>
            </a:r>
            <a:r>
              <a:rPr sz="1300" b="0">
                <a:solidFill>
                  <a:srgbClr val="0F172A"/>
                </a:solidFill>
              </a:rPr>
              <a:t>Custom TAC Virtual Machine instruction dispatcher, plus auxiliary AST Tree-Walk execution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Key Implementation Highlights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100% Implemented &amp; Tested: </a:t>
            </a:r>
            <a:r>
              <a:rPr sz="1300" b="0">
                <a:solidFill>
                  <a:srgbClr val="0F172A"/>
                </a:solidFill>
              </a:rPr>
              <a:t>Zero mockups or placeholders; fully working end-to-end interpreter executing real programs.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Multilingual/Custom Keywords: </a:t>
            </a:r>
            <a:r>
              <a:rPr sz="1300" b="0">
                <a:solidFill>
                  <a:srgbClr val="0F172A"/>
                </a:solidFill>
              </a:rPr>
              <a:t>Supports native Hindi keywords (purnaank, agar, warna, jabtak, dikhao, wapas) mapped to canonical constructs.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Comprehensive Test Suite: </a:t>
            </a:r>
            <a:r>
              <a:rPr sz="1300" b="0">
                <a:solidFill>
                  <a:srgbClr val="0F172A"/>
                </a:solidFill>
              </a:rPr>
              <a:t>12 automated test cases covering valid programs, Hindi keywords, arithmetic, for/while loops, and error diagnostics.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Academic Transparency: </a:t>
            </a:r>
            <a:r>
              <a:rPr sz="1300" b="0">
                <a:solidFill>
                  <a:srgbClr val="0F172A"/>
                </a:solidFill>
              </a:rPr>
              <a:t>CLI flags (--tokens, --ast, --symbols, --tac, --all) allow live inspection of every single compiler transformation stage.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Zero External Dependencies: </a:t>
            </a:r>
            <a:r>
              <a:rPr sz="1300" b="0">
                <a:solidFill>
                  <a:srgbClr val="0F172A"/>
                </a:solidFill>
              </a:rPr>
              <a:t>Built natively with Python standard library for maximum portability and educational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Inter-Module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STAGE 1: SCANNER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lexer.py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.custom / .edu source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List[Token]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JSON keyword mapping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Exact Line:Col tracking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Non-fatal lexical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C3AED"/>
                </a:solidFill>
              </a:defRPr>
            </a:pPr>
            <a:r>
              <a:t>STAGE 2: PARSER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parser.py &amp; ast_nodes.py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List[Token]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Program AST Node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Recursive descent parser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Operator precedence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Panic-mode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A580C"/>
                </a:solidFill>
              </a:defRPr>
            </a:pPr>
            <a:r>
              <a:t>STAGE 3: SEMANTIC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symbol_table.py &amp; analyzer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Program AST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Validated AST + SymTab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Lexical scope hierarchy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Static type compatibility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Scope &amp; symbol checking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43416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STAGE 4 &amp; 5: IR &amp; VM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tac_generator &amp; interpreter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Validated AST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Execution &amp; Output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3-Address Code generation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Virtual Machine execution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Runtime safety &amp;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01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Phase 1: Lexical Analysis &amp; Custom Keyword Normalization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7272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46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rPr dirty="0" err="1"/>
              <a:t>Lexer</a:t>
            </a:r>
            <a:r>
              <a:rPr dirty="0"/>
              <a:t> Design &amp; Keyword Normalization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Data-Driven </a:t>
            </a:r>
            <a:r>
              <a:rPr sz="1300" b="1" dirty="0" err="1">
                <a:solidFill>
                  <a:srgbClr val="0F172A"/>
                </a:solidFill>
              </a:rPr>
              <a:t>Lexer</a:t>
            </a:r>
            <a:r>
              <a:rPr sz="1300" b="1" dirty="0">
                <a:solidFill>
                  <a:srgbClr val="0F172A"/>
                </a:solidFill>
              </a:rPr>
              <a:t> (lexer.py): </a:t>
            </a:r>
            <a:r>
              <a:rPr sz="1300" b="0" dirty="0">
                <a:solidFill>
                  <a:srgbClr val="0F172A"/>
                </a:solidFill>
              </a:rPr>
              <a:t>Loads token specifications from </a:t>
            </a:r>
            <a:r>
              <a:rPr sz="1300" b="0" dirty="0" err="1">
                <a:solidFill>
                  <a:srgbClr val="0F172A"/>
                </a:solidFill>
              </a:rPr>
              <a:t>default_tokens.json</a:t>
            </a:r>
            <a:r>
              <a:rPr sz="1300" b="0" dirty="0">
                <a:solidFill>
                  <a:srgbClr val="0F172A"/>
                </a:solidFill>
              </a:rPr>
              <a:t> and keyword aliases from </a:t>
            </a:r>
            <a:r>
              <a:rPr sz="1300" b="0" dirty="0" err="1">
                <a:solidFill>
                  <a:srgbClr val="0F172A"/>
                </a:solidFill>
              </a:rPr>
              <a:t>keyword_mapping.json</a:t>
            </a:r>
            <a:r>
              <a:rPr sz="1300" b="0" dirty="0">
                <a:solidFill>
                  <a:srgbClr val="0F172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Transparent Normalization: </a:t>
            </a:r>
            <a:r>
              <a:rPr sz="1300" b="0" dirty="0">
                <a:solidFill>
                  <a:srgbClr val="0F172A"/>
                </a:solidFill>
              </a:rPr>
              <a:t>Custom words (</a:t>
            </a:r>
            <a:r>
              <a:rPr sz="1300" b="0" dirty="0" err="1">
                <a:solidFill>
                  <a:srgbClr val="0F172A"/>
                </a:solidFill>
              </a:rPr>
              <a:t>purnaank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jabtak</a:t>
            </a:r>
            <a:r>
              <a:rPr sz="1300" b="0" dirty="0">
                <a:solidFill>
                  <a:srgbClr val="0F172A"/>
                </a:solidFill>
              </a:rPr>
              <a:t>, agar) are converted into canonical tokens (</a:t>
            </a:r>
            <a:r>
              <a:rPr sz="1300" b="0" dirty="0" err="1">
                <a:solidFill>
                  <a:srgbClr val="0F172A"/>
                </a:solidFill>
              </a:rPr>
              <a:t>int</a:t>
            </a:r>
            <a:r>
              <a:rPr sz="1300" b="0" dirty="0">
                <a:solidFill>
                  <a:srgbClr val="0F172A"/>
                </a:solidFill>
              </a:rPr>
              <a:t>, while, if) while preserving original lexemes.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Longest-Match Operators: </a:t>
            </a:r>
            <a:r>
              <a:rPr sz="1300" b="0" dirty="0">
                <a:solidFill>
                  <a:srgbClr val="0F172A"/>
                </a:solidFill>
              </a:rPr>
              <a:t>Multi-character operators (==, !=, &lt;=, &gt;=, +=, -=) sorted by length to match before single-character operators (=, &lt;).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Position Tracking: </a:t>
            </a:r>
            <a:r>
              <a:rPr sz="1300" b="0" dirty="0">
                <a:solidFill>
                  <a:srgbClr val="0F172A"/>
                </a:solidFill>
              </a:rPr>
              <a:t>Tracks exact 1-based line and column coordinates for every token, enabling pinpoint compiler error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79" y="1195832"/>
            <a:ext cx="579089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037" y="1292417"/>
            <a:ext cx="4799377" cy="4653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051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Phase 2: Syntax Analysis &amp; Abstract Syntax Tree (AST)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862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</a:defRPr>
            </a:pPr>
            <a:r>
              <a:rPr dirty="0"/>
              <a:t>Recursive Descent Parser (parser.py)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Precedence Climbing: </a:t>
            </a:r>
            <a:r>
              <a:rPr sz="1300" b="0" dirty="0">
                <a:solidFill>
                  <a:srgbClr val="0F172A"/>
                </a:solidFill>
              </a:rPr>
              <a:t>Mathematical operator precedence enforced directly through grammar function hierarchy without shift-reduce ambiguities.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Modular AST Nodes (ast_nodes.py): </a:t>
            </a:r>
            <a:r>
              <a:rPr sz="1300" b="0" dirty="0">
                <a:solidFill>
                  <a:srgbClr val="0F172A"/>
                </a:solidFill>
              </a:rPr>
              <a:t>Strongly-typed nodes for Program, </a:t>
            </a:r>
            <a:r>
              <a:rPr sz="1300" b="0" dirty="0" err="1">
                <a:solidFill>
                  <a:srgbClr val="0F172A"/>
                </a:solidFill>
              </a:rPr>
              <a:t>VarDecl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IfStmt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WhileStmt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ForStmt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BinaryExpr</a:t>
            </a:r>
            <a:r>
              <a:rPr sz="1300" b="0" dirty="0">
                <a:solidFill>
                  <a:srgbClr val="0F172A"/>
                </a:solidFill>
              </a:rPr>
              <a:t>, </a:t>
            </a:r>
            <a:r>
              <a:rPr sz="1300" b="0" dirty="0" err="1">
                <a:solidFill>
                  <a:srgbClr val="0F172A"/>
                </a:solidFill>
              </a:rPr>
              <a:t>AssignExpr</a:t>
            </a:r>
            <a:r>
              <a:rPr sz="1300" b="0" dirty="0">
                <a:solidFill>
                  <a:srgbClr val="0F172A"/>
                </a:solidFill>
              </a:rPr>
              <a:t>, etc.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Visitor Pattern Support: </a:t>
            </a:r>
            <a:r>
              <a:rPr sz="1300" b="0" dirty="0">
                <a:solidFill>
                  <a:srgbClr val="0F172A"/>
                </a:solidFill>
              </a:rPr>
              <a:t>AST nodes accept visitors (accept(self, visitor)) enabling clean decoupled passes for Semantics, TAC IR, and Pretty Printing.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Panic-Mode Recovery: </a:t>
            </a:r>
            <a:r>
              <a:rPr sz="1300" b="0" dirty="0">
                <a:solidFill>
                  <a:srgbClr val="0F172A"/>
                </a:solidFill>
              </a:rPr>
              <a:t>Synchronizes at statement boundaries (semicolons, closing braces) to catch subsequent syntax errors without crashing.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50560" y="934720"/>
            <a:ext cx="5709615" cy="5852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586" y="1132840"/>
            <a:ext cx="5069561" cy="550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3: Scoped Symbol Table &amp; Semantic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07592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46107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A580C"/>
                </a:solidFill>
              </a:defRPr>
            </a:pPr>
            <a:r>
              <a:rPr dirty="0"/>
              <a:t>Semantic Validation &amp; Scope Engine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Scoped Symbol Table (symbol_table.py): </a:t>
            </a:r>
            <a:r>
              <a:rPr sz="1300" b="0" dirty="0">
                <a:solidFill>
                  <a:srgbClr val="0F172A"/>
                </a:solidFill>
              </a:rPr>
              <a:t>Nested Scope tree maintaining identifier name, data type (</a:t>
            </a:r>
            <a:r>
              <a:rPr sz="1300" b="0" dirty="0" err="1">
                <a:solidFill>
                  <a:srgbClr val="0F172A"/>
                </a:solidFill>
              </a:rPr>
              <a:t>int</a:t>
            </a:r>
            <a:r>
              <a:rPr sz="1300" b="0" dirty="0">
                <a:solidFill>
                  <a:srgbClr val="0F172A"/>
                </a:solidFill>
              </a:rPr>
              <a:t>, float, string, </a:t>
            </a:r>
            <a:r>
              <a:rPr sz="1300" b="0" dirty="0" err="1">
                <a:solidFill>
                  <a:srgbClr val="0F172A"/>
                </a:solidFill>
              </a:rPr>
              <a:t>bool</a:t>
            </a:r>
            <a:r>
              <a:rPr sz="1300" b="0" dirty="0">
                <a:solidFill>
                  <a:srgbClr val="0F172A"/>
                </a:solidFill>
              </a:rPr>
              <a:t>), scope level, and initialization status.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Variable Shadowing: </a:t>
            </a:r>
            <a:r>
              <a:rPr sz="1300" b="0" dirty="0">
                <a:solidFill>
                  <a:srgbClr val="0F172A"/>
                </a:solidFill>
              </a:rPr>
              <a:t>Inner block scopes can shadow outer symbols; symbol lookups climb the parent scope chain upwards to global scope.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Type Checking (semantic_analyzer.py): </a:t>
            </a:r>
            <a:r>
              <a:rPr sz="1300" b="0" dirty="0">
                <a:solidFill>
                  <a:srgbClr val="0F172A"/>
                </a:solidFill>
              </a:rPr>
              <a:t>Enforces static type compatibility; allows widening </a:t>
            </a:r>
            <a:r>
              <a:rPr sz="1300" b="0" dirty="0" err="1">
                <a:solidFill>
                  <a:srgbClr val="0F172A"/>
                </a:solidFill>
              </a:rPr>
              <a:t>int</a:t>
            </a:r>
            <a:r>
              <a:rPr sz="1300" b="0" dirty="0">
                <a:solidFill>
                  <a:srgbClr val="0F172A"/>
                </a:solidFill>
              </a:rPr>
              <a:t> -&gt; float; validates relational &amp; logical operands.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Semantic Error Trapping: </a:t>
            </a:r>
            <a:r>
              <a:rPr sz="1300" b="0" dirty="0">
                <a:solidFill>
                  <a:srgbClr val="0F172A"/>
                </a:solidFill>
              </a:rPr>
              <a:t>Flags duplicate declarations in identical scope, undeclared identifier usage, and uninitialized variable 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79" y="1307592"/>
            <a:ext cx="579089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280" y="1846107"/>
            <a:ext cx="5417600" cy="3769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8115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4: Intermediate Code Generation (Three-Address 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21232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Three-Address Code (tac_generator.py)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Linearized Quadruple IR: </a:t>
            </a:r>
            <a:r>
              <a:rPr sz="1300" b="0">
                <a:solidFill>
                  <a:srgbClr val="0F172A"/>
                </a:solidFill>
              </a:rPr>
              <a:t>Lowers high-level nested AST nodes into elementary 3-address instructions with at most 1 operator per instruction.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Register &amp; Label Generation: </a:t>
            </a:r>
            <a:r>
              <a:rPr sz="1300" b="0">
                <a:solidFill>
                  <a:srgbClr val="0F172A"/>
                </a:solidFill>
              </a:rPr>
              <a:t>Emits temporary registers (t0, t1, t2...) for intermediate sub-expressions and symbolic jump labels (L_while_start_0, L_else_2...).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Complete Instruction Set: </a:t>
            </a:r>
            <a:r>
              <a:rPr sz="1300" b="0">
                <a:solidFill>
                  <a:srgbClr val="0F172A"/>
                </a:solidFill>
              </a:rPr>
              <a:t>Supports ASSIGN, ADD, SUB, MUL, DIV, MOD, EQ, NEQ, LT, LE, GT, GE, AND, OR, NOT, GOTO, IF_FALSE, IF_TRUE, PRINT, RETURN.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Clear Machine Abstraction: </a:t>
            </a:r>
            <a:r>
              <a:rPr sz="1300" b="0">
                <a:solidFill>
                  <a:srgbClr val="0F172A"/>
                </a:solidFill>
              </a:rPr>
              <a:t>Isolates front-end language syntax from the underlying execution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463040"/>
            <a:ext cx="579089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713" y="1032351"/>
            <a:ext cx="5880222" cy="5707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927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Phase 5: Execution Engine &amp; TAC Virtual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87120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89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rPr dirty="0"/>
              <a:t>Execution Engine (interpreter.py)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TAC Virtual Machine (Primary): </a:t>
            </a:r>
            <a:r>
              <a:rPr sz="1300" b="0" dirty="0">
                <a:solidFill>
                  <a:srgbClr val="0F172A"/>
                </a:solidFill>
              </a:rPr>
              <a:t>Dispatches TAC instructions step-by-step with program counter management, environment register state, and O(1) label index lookups.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AST Tree-Walk Interpreter (Auxiliary): </a:t>
            </a:r>
            <a:r>
              <a:rPr sz="1300" b="0" dirty="0">
                <a:solidFill>
                  <a:srgbClr val="0F172A"/>
                </a:solidFill>
              </a:rPr>
              <a:t>Direct AST traversal execution engine available via --</a:t>
            </a:r>
            <a:r>
              <a:rPr sz="1300" b="0" dirty="0" err="1">
                <a:solidFill>
                  <a:srgbClr val="0F172A"/>
                </a:solidFill>
              </a:rPr>
              <a:t>ast</a:t>
            </a:r>
            <a:r>
              <a:rPr sz="1300" b="0" dirty="0">
                <a:solidFill>
                  <a:srgbClr val="0F172A"/>
                </a:solidFill>
              </a:rPr>
              <a:t>-run flag for comparative demonstration in </a:t>
            </a:r>
            <a:r>
              <a:rPr sz="1300" b="0" dirty="0" err="1">
                <a:solidFill>
                  <a:srgbClr val="0F172A"/>
                </a:solidFill>
              </a:rPr>
              <a:t>vivas</a:t>
            </a:r>
            <a:r>
              <a:rPr sz="1300" b="0" dirty="0">
                <a:solidFill>
                  <a:srgbClr val="0F172A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Runtime Error Trapping: </a:t>
            </a:r>
            <a:r>
              <a:rPr sz="1300" b="0" dirty="0">
                <a:solidFill>
                  <a:srgbClr val="0F172A"/>
                </a:solidFill>
              </a:rPr>
              <a:t>Gracefully catches and reports division/modulo by zero and guards against infinite execution loops via max-step thresholds.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Program Exit &amp; Output: </a:t>
            </a:r>
            <a:r>
              <a:rPr sz="1300" b="0" dirty="0">
                <a:solidFill>
                  <a:srgbClr val="0F172A"/>
                </a:solidFill>
              </a:rPr>
              <a:t>Captures </a:t>
            </a:r>
            <a:r>
              <a:rPr sz="1300" b="0" dirty="0" err="1">
                <a:solidFill>
                  <a:srgbClr val="0F172A"/>
                </a:solidFill>
              </a:rPr>
              <a:t>stdout</a:t>
            </a:r>
            <a:r>
              <a:rPr sz="1300" b="0" dirty="0">
                <a:solidFill>
                  <a:srgbClr val="0F172A"/>
                </a:solidFill>
              </a:rPr>
              <a:t> cleanly in execution buffers and propagates exit return codes (0 on success).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79" y="1087120"/>
            <a:ext cx="5790895" cy="4683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860" y="1889760"/>
            <a:ext cx="5739734" cy="308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54051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Live End-to-End Execution Evidence (All 5 Stages)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34872"/>
            <a:ext cx="43891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Full Pipeline Execution: example.custom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Source Code Tested: </a:t>
            </a:r>
            <a:r>
              <a:rPr sz="1300" b="0">
                <a:solidFill>
                  <a:srgbClr val="0F172A"/>
                </a:solidFill>
              </a:rPr>
              <a:t>Custom Hindi keywords script executing while loops (jabtak), float arithmetic (dashamlav), and conditional branching (agar/warna).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Executed Command: </a:t>
            </a:r>
            <a:r>
              <a:rPr sz="1300" b="0">
                <a:solidFill>
                  <a:srgbClr val="0F172A"/>
                </a:solidFill>
              </a:rPr>
              <a:t>python main.py example.custom --all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Complete Pipeline Verification: </a:t>
            </a:r>
            <a:r>
              <a:rPr sz="1300" b="0">
                <a:solidFill>
                  <a:srgbClr val="0F172A"/>
                </a:solidFill>
              </a:rPr>
              <a:t>Simultaneously outputs Token Stream (56 tokens) → AST Tree → Scoped Symbol Table → TAC (20 instructions) → Program Output ('High score achieved!').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Verification Status: </a:t>
            </a:r>
            <a:r>
              <a:rPr sz="1300" b="0">
                <a:solidFill>
                  <a:srgbClr val="0F172A"/>
                </a:solidFill>
              </a:rPr>
              <a:t>Zero lexical, syntax, or semantic errors; exited with return code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38" y="512064"/>
            <a:ext cx="5181295" cy="6264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519" y="697992"/>
            <a:ext cx="4459935" cy="5905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Robust Multi-Phase Error Diagnostic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1. LEXICAL ERROR (Phase 1)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Unsupported character '$ @ ~' caught with line/col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2. SYNTAX ERROR (Phase 2)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Malformed expression 'if (a &gt; 5 {' caught by recursive parser.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3. SEMANTIC ERROR (Phase 3)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Type mismatch assigning string to integer variable 'count'.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4. RUNTIME ERROR (Phase 5)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Division by zero 'a / b' safely trapped at VM execution time.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" y="1951671"/>
            <a:ext cx="4477446" cy="206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157" y="1951672"/>
            <a:ext cx="4254843" cy="183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1" y="4571998"/>
            <a:ext cx="5878482" cy="1661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080" y="4399189"/>
            <a:ext cx="4753933" cy="2334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Automated Test Suite &amp; 100% Verification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862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rPr dirty="0"/>
              <a:t>Verified 12-Case Test Matrix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1. Custom Hindi (</a:t>
            </a:r>
            <a:r>
              <a:rPr sz="950" b="1" dirty="0" err="1">
                <a:solidFill>
                  <a:srgbClr val="0F172A"/>
                </a:solidFill>
              </a:rPr>
              <a:t>example.custom</a:t>
            </a:r>
            <a:r>
              <a:rPr sz="950" b="1" dirty="0">
                <a:solidFill>
                  <a:srgbClr val="0F172A"/>
                </a:solidFill>
              </a:rPr>
              <a:t>): </a:t>
            </a:r>
            <a:r>
              <a:rPr sz="950" dirty="0">
                <a:solidFill>
                  <a:srgbClr val="64748B"/>
                </a:solidFill>
              </a:rPr>
              <a:t>Loops, floats, if/else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2. Hindi Factorial: </a:t>
            </a:r>
            <a:r>
              <a:rPr sz="950" dirty="0">
                <a:solidFill>
                  <a:srgbClr val="64748B"/>
                </a:solidFill>
              </a:rPr>
              <a:t>Loop accumulator, compare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3. Arithmetic &amp; Precedence: </a:t>
            </a:r>
            <a:r>
              <a:rPr sz="950" dirty="0">
                <a:solidFill>
                  <a:srgbClr val="64748B"/>
                </a:solidFill>
              </a:rPr>
              <a:t>Ops (+,-,*,/,%), comp. assign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4. Control Flow &amp; Logic: </a:t>
            </a:r>
            <a:r>
              <a:rPr sz="950" dirty="0">
                <a:solidFill>
                  <a:srgbClr val="64748B"/>
                </a:solidFill>
              </a:rPr>
              <a:t>While, modulo, &amp;&amp;, ||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5. For Loop: </a:t>
            </a:r>
            <a:r>
              <a:rPr sz="950" dirty="0" err="1">
                <a:solidFill>
                  <a:srgbClr val="64748B"/>
                </a:solidFill>
              </a:rPr>
              <a:t>Init</a:t>
            </a:r>
            <a:r>
              <a:rPr sz="950" dirty="0">
                <a:solidFill>
                  <a:srgbClr val="64748B"/>
                </a:solidFill>
              </a:rPr>
              <a:t>, </a:t>
            </a:r>
            <a:r>
              <a:rPr sz="950" dirty="0" err="1">
                <a:solidFill>
                  <a:srgbClr val="64748B"/>
                </a:solidFill>
              </a:rPr>
              <a:t>cond</a:t>
            </a:r>
            <a:r>
              <a:rPr sz="950" dirty="0">
                <a:solidFill>
                  <a:srgbClr val="64748B"/>
                </a:solidFill>
              </a:rPr>
              <a:t>, update loop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6. String Operations: </a:t>
            </a:r>
            <a:r>
              <a:rPr sz="950" dirty="0">
                <a:solidFill>
                  <a:srgbClr val="64748B"/>
                </a:solidFill>
              </a:rPr>
              <a:t>Concatenation, equality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7. Semantic: Type Mismatch: </a:t>
            </a:r>
            <a:r>
              <a:rPr sz="950" dirty="0">
                <a:solidFill>
                  <a:srgbClr val="64748B"/>
                </a:solidFill>
              </a:rPr>
              <a:t>Exit code 3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8. Semantic: Undeclared </a:t>
            </a:r>
            <a:r>
              <a:rPr sz="950" b="1" dirty="0" err="1">
                <a:solidFill>
                  <a:srgbClr val="0F172A"/>
                </a:solidFill>
              </a:rPr>
              <a:t>Var</a:t>
            </a:r>
            <a:r>
              <a:rPr sz="950" b="1" dirty="0">
                <a:solidFill>
                  <a:srgbClr val="0F172A"/>
                </a:solidFill>
              </a:rPr>
              <a:t>: </a:t>
            </a:r>
            <a:r>
              <a:rPr sz="950" dirty="0">
                <a:solidFill>
                  <a:srgbClr val="64748B"/>
                </a:solidFill>
              </a:rPr>
              <a:t>Exit code 3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9. Semantic: Duplicate </a:t>
            </a:r>
            <a:r>
              <a:rPr sz="950" b="1" dirty="0" err="1">
                <a:solidFill>
                  <a:srgbClr val="0F172A"/>
                </a:solidFill>
              </a:rPr>
              <a:t>Decl</a:t>
            </a:r>
            <a:r>
              <a:rPr sz="950" b="1" dirty="0">
                <a:solidFill>
                  <a:srgbClr val="0F172A"/>
                </a:solidFill>
              </a:rPr>
              <a:t>: </a:t>
            </a:r>
            <a:r>
              <a:rPr sz="950" dirty="0">
                <a:solidFill>
                  <a:srgbClr val="64748B"/>
                </a:solidFill>
              </a:rPr>
              <a:t>Exit code 3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10. Syntax: Malformed </a:t>
            </a:r>
            <a:r>
              <a:rPr sz="950" b="1" dirty="0" err="1">
                <a:solidFill>
                  <a:srgbClr val="0F172A"/>
                </a:solidFill>
              </a:rPr>
              <a:t>Expr</a:t>
            </a:r>
            <a:r>
              <a:rPr sz="950" b="1" dirty="0">
                <a:solidFill>
                  <a:srgbClr val="0F172A"/>
                </a:solidFill>
              </a:rPr>
              <a:t>: </a:t>
            </a:r>
            <a:r>
              <a:rPr sz="950" dirty="0">
                <a:solidFill>
                  <a:srgbClr val="64748B"/>
                </a:solidFill>
              </a:rPr>
              <a:t>Exit code 2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11. Lexical: Bad Characters: </a:t>
            </a:r>
            <a:r>
              <a:rPr sz="950" dirty="0">
                <a:solidFill>
                  <a:srgbClr val="64748B"/>
                </a:solidFill>
              </a:rPr>
              <a:t>Exit code 1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sz="950" b="1" dirty="0">
                <a:solidFill>
                  <a:srgbClr val="0F172A"/>
                </a:solidFill>
              </a:rPr>
              <a:t>✓ 12. Runtime: Zero Division: </a:t>
            </a:r>
            <a:r>
              <a:rPr sz="950" dirty="0">
                <a:solidFill>
                  <a:srgbClr val="64748B"/>
                </a:solidFill>
              </a:rPr>
              <a:t>Exit code 4 verified </a:t>
            </a:r>
            <a:r>
              <a:rPr sz="950" b="1" dirty="0">
                <a:solidFill>
                  <a:srgbClr val="10B981"/>
                </a:solidFill>
              </a:rPr>
              <a:t>[PASSED]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51657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421" y="1820758"/>
            <a:ext cx="5341314" cy="4351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Compliance Matrix: Planned Proposal vs Final Implementation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931920"/>
                <a:gridCol w="1493215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Review 1 Proposal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Final Review 3 Delivery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Lexical Analyzer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Data-driven tokenization with custom keywords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Dynamic JSON-driven lexer with line/col tracking &amp; Hindi mappings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Recursive descent parser for imperative constructs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Full recursive descent with precedence climbing &amp; error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Modular AST node hierarchy with visitor pattern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Typed AST nodes with visitor interface &amp; visual ASCII tree printer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Symbol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Scoped variable table with type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Hierarchical Scope trees, variable shadowing &amp; initialization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Semantic Analyzer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Type checking &amp; undeclared identifier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Static type inference, widening int-&gt;float, duplicate decl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Intermediate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Three-Address Code (TAC)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Linearized TAC quadruples with temporaries (t0..) and labels (L0..)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Interpreter executing EduScript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TAC Virtual Machine + auxiliary AST Tree-Walk Interpreter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Testing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Automated validation of language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 automated test cases with 100.0% pass rate &amp; CI-ready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Innovations &amp; Engineering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1. Dynamic JSON Keyword Customization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Enables localized / multilingual programming (e.g. Hindi keywords agar, jabtak, purnaank) without altering parser grammar rules. The Lexer normalizes custom aliases to canonical tags transparently.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rPr dirty="0"/>
              <a:t>2. Total Academic Transparency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dirty="0"/>
              <a:t>Unlike black-box compilers, every intermediate stage (Tokens, AST, Symbol Table, TAC IR) is fully </a:t>
            </a:r>
            <a:r>
              <a:rPr dirty="0" err="1"/>
              <a:t>inspectable</a:t>
            </a:r>
            <a:r>
              <a:rPr dirty="0"/>
              <a:t> via dedicated CLI flags (--tokens, --</a:t>
            </a:r>
            <a:r>
              <a:rPr dirty="0" err="1"/>
              <a:t>ast</a:t>
            </a:r>
            <a:r>
              <a:rPr dirty="0"/>
              <a:t>, --symbols, --</a:t>
            </a:r>
            <a:r>
              <a:rPr dirty="0" err="1"/>
              <a:t>tac</a:t>
            </a:r>
            <a:r>
              <a:rPr dirty="0"/>
              <a:t>, --all).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3. Dual-Execution Architecture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Features both a Three-Address Code Virtual Machine (executing linearized IR) and an AST Tree-Walk Interpreter, allowing direct comparison of IR vs AST execution in compiler vivas.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</a:defRPr>
            </a:pPr>
            <a:r>
              <a:t>4. Production-Grade Diagnostic Pinpointing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Multi-phase error trapping with exact line and column coordinates, detailed error classification (Lexical, Syntax, TypeError, UndeclaredVariable, RuntimeError), and panic-mode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Compiler Design Viva Q&amp;A — Key Technical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Q1: How does the parser handle custom Hindi keywords?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A1: The Lexer scans custom lexemes (e.g. 'jabtak') and looks up keyword_mapping.json to attach canonical='while'. The Parser only checks the canonical identity, keeping the grammar completely decoupled and multilingual.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0048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Q2: What is the purpose of generating Three-Address Code before interpretation?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A2: TAC flattens complex nested AST expressions into linear quadruples with temporary variables (t0, t1...) and jump labels, creating an explicit machine-independent IR ideal for optimization and VM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Q3: How does the symbol table handle variable shadowing in nested blocks?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A3: Each block creates a child Scope referencing its parent. Variable lookups search the innermost scope first and traverse parent pointers upwards, allowing inner variables to shadow outer symbols correctly.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84064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157216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Q4: How does panic-mode error recovery prevent cascading syntax errors?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A4: When a syntax error occurs, the parser logs the error and discards subsequent tokens until it encounters a synchronization boundary (semicolon, closing brace, or statement-initiating keyword).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709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GitHub Repository &amp; Deliverables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65352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rPr dirty="0"/>
              <a:t>Repository &amp; Version Control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</a:t>
            </a:r>
            <a:r>
              <a:rPr sz="1300" b="1" dirty="0" err="1">
                <a:solidFill>
                  <a:srgbClr val="0F172A"/>
                </a:solidFill>
              </a:rPr>
              <a:t>GitHub</a:t>
            </a:r>
            <a:r>
              <a:rPr sz="1300" b="1" dirty="0">
                <a:solidFill>
                  <a:srgbClr val="0F172A"/>
                </a:solidFill>
              </a:rPr>
              <a:t> Repository: </a:t>
            </a:r>
            <a:r>
              <a:rPr sz="1300" b="0" dirty="0">
                <a:solidFill>
                  <a:srgbClr val="0F172A"/>
                </a:solidFill>
              </a:rPr>
              <a:t>https://github.com/Udbhav-Tiwari16/EduScript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Active Branch: </a:t>
            </a:r>
            <a:r>
              <a:rPr sz="1300" b="0" dirty="0">
                <a:solidFill>
                  <a:srgbClr val="0F172A"/>
                </a:solidFill>
              </a:rPr>
              <a:t>main (Commit: c7fd7f7)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Final Project Deliverables: </a:t>
            </a:r>
            <a:r>
              <a:rPr sz="1300" b="0" dirty="0">
                <a:solidFill>
                  <a:srgbClr val="0F172A"/>
                </a:solidFill>
              </a:rPr>
              <a:t>Complete Working Source Code, Test Suite (12 test cases), Test Results (100% pass), Terminal Screenshots, Final Presentation (.</a:t>
            </a:r>
            <a:r>
              <a:rPr sz="1300" b="0" dirty="0" err="1">
                <a:solidFill>
                  <a:srgbClr val="0F172A"/>
                </a:solidFill>
              </a:rPr>
              <a:t>pptx</a:t>
            </a:r>
            <a:r>
              <a:rPr sz="1300" b="0" dirty="0">
                <a:solidFill>
                  <a:srgbClr val="0F172A"/>
                </a:solidFill>
              </a:rPr>
              <a:t>), User Guide.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0F172A"/>
                </a:solidFill>
              </a:rPr>
              <a:t>• Individual Project: </a:t>
            </a:r>
            <a:r>
              <a:rPr sz="1300" b="0" dirty="0">
                <a:solidFill>
                  <a:srgbClr val="0F172A"/>
                </a:solidFill>
              </a:rPr>
              <a:t>Sole author and developer: </a:t>
            </a:r>
            <a:r>
              <a:rPr sz="1300" b="0" dirty="0" err="1">
                <a:solidFill>
                  <a:srgbClr val="0F172A"/>
                </a:solidFill>
              </a:rPr>
              <a:t>Udbhav</a:t>
            </a:r>
            <a:r>
              <a:rPr sz="1300" b="0" dirty="0">
                <a:solidFill>
                  <a:srgbClr val="0F172A"/>
                </a:solidFill>
              </a:rPr>
              <a:t> </a:t>
            </a:r>
            <a:r>
              <a:rPr sz="1300" b="0" dirty="0" err="1">
                <a:solidFill>
                  <a:srgbClr val="0F172A"/>
                </a:solidFill>
              </a:rPr>
              <a:t>Tiwari</a:t>
            </a:r>
            <a:r>
              <a:rPr sz="1300" b="0" dirty="0">
                <a:solidFill>
                  <a:srgbClr val="0F172A"/>
                </a:solidFill>
              </a:rPr>
              <a:t> (</a:t>
            </a:r>
            <a:r>
              <a:rPr sz="1300" b="0" dirty="0" err="1">
                <a:solidFill>
                  <a:srgbClr val="0F172A"/>
                </a:solidFill>
              </a:rPr>
              <a:t>Reg</a:t>
            </a:r>
            <a:r>
              <a:rPr sz="1300" b="0" dirty="0">
                <a:solidFill>
                  <a:srgbClr val="0F172A"/>
                </a:solidFill>
              </a:rPr>
              <a:t> No: 24BCT0328).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78" y="1165352"/>
            <a:ext cx="579089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724" y="2293743"/>
            <a:ext cx="5374005" cy="863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116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Conclusion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05992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Project Summary &amp; Conclusion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Comprehensive Implementation: </a:t>
            </a:r>
            <a:r>
              <a:rPr sz="1300" b="0">
                <a:solidFill>
                  <a:srgbClr val="0F172A"/>
                </a:solidFill>
              </a:rPr>
              <a:t>EduScript fulfills all theoretical and practical requirements of a complete compiler/interpreter pipeline.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Educational &amp; Modular: </a:t>
            </a:r>
            <a:r>
              <a:rPr sz="1300" b="0">
                <a:solidFill>
                  <a:srgbClr val="0F172A"/>
                </a:solidFill>
              </a:rPr>
              <a:t>Every stage is decoupled, inspectable, and built in pure Python standard library for maximum readability.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Fully Verified: </a:t>
            </a:r>
            <a:r>
              <a:rPr sz="1300" b="0">
                <a:solidFill>
                  <a:srgbClr val="0F172A"/>
                </a:solidFill>
              </a:rPr>
              <a:t>100% test pass rate across 12 automated test cases covering valid programs, custom keywords, and error handling.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Ready for Evaluation: </a:t>
            </a:r>
            <a:r>
              <a:rPr sz="1300" b="0">
                <a:solidFill>
                  <a:srgbClr val="0F172A"/>
                </a:solidFill>
              </a:rPr>
              <a:t>Complete source code committed and pushed to GitHub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205992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TAC Optimization Passes: </a:t>
            </a:r>
            <a:r>
              <a:rPr sz="1300" b="0">
                <a:solidFill>
                  <a:srgbClr val="0F172A"/>
                </a:solidFill>
              </a:rPr>
              <a:t>Dead code elimination, constant folding, constant propagation, and common subexpression elimination (CSE).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Bytecode / Assembly Target: </a:t>
            </a:r>
            <a:r>
              <a:rPr sz="1300" b="0">
                <a:solidFill>
                  <a:srgbClr val="0F172A"/>
                </a:solidFill>
              </a:rPr>
              <a:t>Compiling TAC to Python bytecode (.pyc) or LLVM IR for native machine execution.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User-Defined Functions &amp; Arrays: </a:t>
            </a:r>
            <a:r>
              <a:rPr sz="1300" b="0">
                <a:solidFill>
                  <a:srgbClr val="0F172A"/>
                </a:solidFill>
              </a:rPr>
              <a:t>Expanding runtime stack frames to support recursive function calls and array data structures.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</a:rPr>
              <a:t>• Interactive Web Playground: </a:t>
            </a:r>
            <a:r>
              <a:rPr sz="1300" b="0">
                <a:solidFill>
                  <a:srgbClr val="0F172A"/>
                </a:solidFill>
              </a:rPr>
              <a:t>WebAssembly frontend allowing students to visualize AST trees and TAC steps interactively in a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2180</Words>
  <Application>Microsoft Office PowerPoint</Application>
  <PresentationFormat>Custom</PresentationFormat>
  <Paragraphs>185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dc:description>generated using python-pptx</dc:description>
  <cp:lastModifiedBy>ASUS</cp:lastModifiedBy>
  <cp:revision>4</cp:revision>
  <dcterms:created xsi:type="dcterms:W3CDTF">2013-01-27T09:14:16Z</dcterms:created>
  <dcterms:modified xsi:type="dcterms:W3CDTF">2026-10-09T17:30:58Z</dcterms:modified>
</cp:coreProperties>
</file>