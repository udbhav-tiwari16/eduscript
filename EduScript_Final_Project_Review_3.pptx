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03628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4114800" cy="411480"/>
          </a:xfrm>
          <a:prstGeom prst="roundRect">
            <a:avLst/>
          </a:prstGeom>
          <a:solidFill>
            <a:srgbClr val="1E3A8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BFDBFE"/>
                </a:solidFill>
              </a:defRPr>
            </a:pPr>
            <a:r>
              <a:t>COMPILER DESIGN LABORATORY • REVIEW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EduScript: A Customizable Lightweight</a:t>
            </a:r>
            <a:br/>
            <a:r>
              <a:t>Compiler and Interpreter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End-to-End Compiler Pipeline: Lexical Analysis → Recursive Descent Parser → AST → Scoped Symbol Table → Semantic Analyzer → Three-Address Code (TAC) → Virtual Machine Interpreter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663440"/>
            <a:ext cx="242316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000" b="1">
                <a:solidFill>
                  <a:srgbClr val="94A3B8"/>
                </a:solidFill>
              </a:defRPr>
            </a:pPr>
            <a:r>
              <a:t>STUDENT NAME</a:t>
            </a:r>
          </a:p>
          <a:p>
            <a:pPr>
              <a:spcBef>
                <a:spcPts val="400"/>
              </a:spcBef>
              <a:defRPr sz="1400" b="1">
                <a:solidFill>
                  <a:srgbClr val="F8FAFC"/>
                </a:solidFill>
              </a:defRPr>
            </a:pPr>
            <a:r>
              <a:t>Udbhav Tiwari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663440"/>
            <a:ext cx="242316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4663440"/>
            <a:ext cx="242316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000" b="1">
                <a:solidFill>
                  <a:srgbClr val="94A3B8"/>
                </a:solidFill>
              </a:defRPr>
            </a:pPr>
            <a:r>
              <a:t>REGISTER NUMBER</a:t>
            </a:r>
          </a:p>
          <a:p>
            <a:pPr>
              <a:spcBef>
                <a:spcPts val="400"/>
              </a:spcBef>
              <a:defRPr sz="1400" b="1">
                <a:solidFill>
                  <a:srgbClr val="F8FAFC"/>
                </a:solidFill>
              </a:defRPr>
            </a:pPr>
            <a:r>
              <a:t>24BCT0328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4663440"/>
            <a:ext cx="242316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4663440"/>
            <a:ext cx="242316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000" b="1">
                <a:solidFill>
                  <a:srgbClr val="94A3B8"/>
                </a:solidFill>
              </a:defRPr>
            </a:pPr>
            <a:r>
              <a:t>COURSE &amp; REVIEW</a:t>
            </a:r>
          </a:p>
          <a:p>
            <a:pPr>
              <a:spcBef>
                <a:spcPts val="400"/>
              </a:spcBef>
              <a:defRPr sz="1400" b="1">
                <a:solidFill>
                  <a:srgbClr val="F8FAFC"/>
                </a:solidFill>
              </a:defRPr>
            </a:pPr>
            <a:r>
              <a:t>CD Lab • Review 3 (Final)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663440"/>
            <a:ext cx="24231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869680" y="4663440"/>
            <a:ext cx="242316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000" b="1">
                <a:solidFill>
                  <a:srgbClr val="94A3B8"/>
                </a:solidFill>
              </a:defRPr>
            </a:pPr>
            <a:r>
              <a:t>PROJECT TYPE</a:t>
            </a:r>
          </a:p>
          <a:p>
            <a:pPr>
              <a:spcBef>
                <a:spcPts val="400"/>
              </a:spcBef>
              <a:defRPr sz="1400" b="1">
                <a:solidFill>
                  <a:srgbClr val="F8FAFC"/>
                </a:solidFill>
              </a:defRPr>
            </a:pPr>
            <a:r>
              <a:t>Individual Project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0" y="4663440"/>
            <a:ext cx="2423160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Project Overview &amp; Complete Compiler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Complete 5-Stage Compiler Pipeline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1. Lexical Analysis (lexer.py): </a:t>
            </a:r>
            <a:r>
              <a:rPr b="0" sz="1300">
                <a:solidFill>
                  <a:srgbClr val="0F172A"/>
                </a:solidFill>
              </a:rPr>
              <a:t>Tokenizes raw source with exact line/col tracking and normalizes custom keywords (agar, jabtak, purnaank, etc.) via JSON mappings.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2. Syntax Analysis (parser.py): </a:t>
            </a:r>
            <a:r>
              <a:rPr b="0" sz="1300">
                <a:solidFill>
                  <a:srgbClr val="0F172A"/>
                </a:solidFill>
              </a:rPr>
              <a:t>Recursive descent parsing with full precedence climbing; constructs structured Abstract Syntax Trees with panic-mode recovery.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3. Semantic Analysis (semantic_analyzer.py): </a:t>
            </a:r>
            <a:r>
              <a:rPr b="0" sz="1300">
                <a:solidFill>
                  <a:srgbClr val="0F172A"/>
                </a:solidFill>
              </a:rPr>
              <a:t>Enforces static type checking, scoped symbol table lookups, variable shadowing, and diagnostic validation.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4. Intermediate Code (tac_generator.py): </a:t>
            </a:r>
            <a:r>
              <a:rPr b="0" sz="1300">
                <a:solidFill>
                  <a:srgbClr val="0F172A"/>
                </a:solidFill>
              </a:rPr>
              <a:t>Emits linearized Three-Address Code (TAC) with temporary registers (t0, t1...) and jump labels (L0, L1...).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5. Execution Engine (interpreter.py): </a:t>
            </a:r>
            <a:r>
              <a:rPr b="0" sz="1300">
                <a:solidFill>
                  <a:srgbClr val="0F172A"/>
                </a:solidFill>
              </a:rPr>
              <a:t>Custom TAC Virtual Machine instruction dispatcher, plus auxiliary AST Tree-Walk execution mode.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764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Key Implementation Highlights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100% Implemented &amp; Tested: </a:t>
            </a:r>
            <a:r>
              <a:rPr b="0" sz="1300">
                <a:solidFill>
                  <a:srgbClr val="0F172A"/>
                </a:solidFill>
              </a:rPr>
              <a:t>Zero mockups or placeholders; fully working end-to-end interpreter executing real programs.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Multilingual/Custom Keywords: </a:t>
            </a:r>
            <a:r>
              <a:rPr b="0" sz="1300">
                <a:solidFill>
                  <a:srgbClr val="0F172A"/>
                </a:solidFill>
              </a:rPr>
              <a:t>Supports native Hindi keywords (purnaank, agar, warna, jabtak, dikhao, wapas) mapped to canonical constructs.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Comprehensive Test Suite: </a:t>
            </a:r>
            <a:r>
              <a:rPr b="0" sz="1300">
                <a:solidFill>
                  <a:srgbClr val="0F172A"/>
                </a:solidFill>
              </a:rPr>
              <a:t>12 automated test cases covering valid programs, Hindi keywords, arithmetic, for/while loops, and error diagnostics.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Academic Transparency: </a:t>
            </a:r>
            <a:r>
              <a:rPr b="0" sz="1300">
                <a:solidFill>
                  <a:srgbClr val="0F172A"/>
                </a:solidFill>
              </a:rPr>
              <a:t>CLI flags (--tokens, --ast, --symbols, --tac, --all) allow live inspection of every single compiler transformation stage.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Zero External Dependencies: </a:t>
            </a:r>
            <a:r>
              <a:rPr b="0" sz="1300">
                <a:solidFill>
                  <a:srgbClr val="0F172A"/>
                </a:solidFill>
              </a:rPr>
              <a:t>Built natively with Python standard library for maximum portability and educational clarity.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System Architecture &amp; Inter-Module Data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56032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2563EB"/>
                </a:solidFill>
              </a:defRPr>
            </a:pPr>
            <a:r>
              <a:t>STAGE 1: SCANNER</a:t>
            </a:r>
          </a:p>
          <a:p>
            <a:pPr>
              <a:spcAft>
                <a:spcPts val="1000"/>
              </a:spcAft>
              <a:defRPr sz="1100" b="1">
                <a:solidFill>
                  <a:srgbClr val="64748B"/>
                </a:solidFill>
              </a:defRPr>
            </a:pPr>
            <a:r>
              <a:t>lexer.py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Input: .custom / .edu source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Output: List[Token]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JSON keyword mapping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Exact Line:Col tracking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Non-fatal lexical errors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463040"/>
            <a:ext cx="256032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6432" y="1463040"/>
            <a:ext cx="25603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160020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7C3AED"/>
                </a:solidFill>
              </a:defRPr>
            </a:pPr>
            <a:r>
              <a:t>STAGE 2: PARSER</a:t>
            </a:r>
          </a:p>
          <a:p>
            <a:pPr>
              <a:spcAft>
                <a:spcPts val="1000"/>
              </a:spcAft>
              <a:defRPr sz="1100" b="1">
                <a:solidFill>
                  <a:srgbClr val="64748B"/>
                </a:solidFill>
              </a:defRPr>
            </a:pPr>
            <a:r>
              <a:t>parser.py &amp; ast_nodes.py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Input: List[Token]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Output: Program AST Node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Recursive descent parser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Operator precedence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Panic-mode recovery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463040"/>
            <a:ext cx="256032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1463040"/>
            <a:ext cx="256032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8504" y="160020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STAGE 3: SEMANTIC</a:t>
            </a:r>
          </a:p>
          <a:p>
            <a:pPr>
              <a:spcAft>
                <a:spcPts val="1000"/>
              </a:spcAft>
              <a:defRPr sz="1100" b="1">
                <a:solidFill>
                  <a:srgbClr val="64748B"/>
                </a:solidFill>
              </a:defRPr>
            </a:pPr>
            <a:r>
              <a:t>symbol_table.py &amp; analyzer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Input: Program AST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Output: Validated AST + SymTab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Lexical scope hierarchy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Static type compatibility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Scope &amp; symbol checking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463040"/>
            <a:ext cx="256032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06256" y="1463040"/>
            <a:ext cx="25603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43416" y="160020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STAGE 4 &amp; 5: IR &amp; VM</a:t>
            </a:r>
          </a:p>
          <a:p>
            <a:pPr>
              <a:spcAft>
                <a:spcPts val="1000"/>
              </a:spcAft>
              <a:defRPr sz="1100" b="1">
                <a:solidFill>
                  <a:srgbClr val="64748B"/>
                </a:solidFill>
              </a:defRPr>
            </a:pPr>
            <a:r>
              <a:t>tac_generator &amp; interpreter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Input: Validated AST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Output: Execution &amp; Output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3-Address Code generation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Virtual Machine execution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Runtime safety &amp;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Phase 1: Lexical Analysis &amp; Custom Keyword Normalization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75488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563EB"/>
                </a:solidFill>
              </a:defRPr>
            </a:pPr>
            <a:r>
              <a:t>Lexer Design &amp; Keyword Normalization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Data-Driven Lexer (lexer.py): </a:t>
            </a:r>
            <a:r>
              <a:rPr b="0" sz="1300">
                <a:solidFill>
                  <a:srgbClr val="0F172A"/>
                </a:solidFill>
              </a:rPr>
              <a:t>Loads token specifications from default_tokens.json and keyword aliases from keyword_mapping.json.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Transparent Normalization: </a:t>
            </a:r>
            <a:r>
              <a:rPr b="0" sz="1300">
                <a:solidFill>
                  <a:srgbClr val="0F172A"/>
                </a:solidFill>
              </a:rPr>
              <a:t>Custom words (purnaank, jabtak, agar) are converted into canonical tokens (int, while, if) while preserving original lexemes.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Longest-Match Operators: </a:t>
            </a:r>
            <a:r>
              <a:rPr b="0" sz="1300">
                <a:solidFill>
                  <a:srgbClr val="0F172A"/>
                </a:solidFill>
              </a:rPr>
              <a:t>Multi-character operators (==, !=, &lt;=, &gt;=, +=, -=) sorted by length to match before single-character operators (=, &lt;).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Position Tracking: </a:t>
            </a:r>
            <a:r>
              <a:rPr b="0" sz="1300">
                <a:solidFill>
                  <a:srgbClr val="0F172A"/>
                </a:solidFill>
              </a:rPr>
              <a:t>Tracks exact 1-based line and column coordinates for every token, enabling pinpoint compiler error messages.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463040"/>
            <a:ext cx="5790895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_phase1_tok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600200"/>
            <a:ext cx="5516575" cy="56261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Phase 2: Syntax Analysis &amp; Abstract Syntax Tree (AST)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75488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7C3AED"/>
                </a:solidFill>
              </a:defRPr>
            </a:pPr>
            <a:r>
              <a:t>Recursive Descent Parser (parser.py)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Precedence Climbing: </a:t>
            </a:r>
            <a:r>
              <a:rPr b="0" sz="1300">
                <a:solidFill>
                  <a:srgbClr val="0F172A"/>
                </a:solidFill>
              </a:rPr>
              <a:t>Mathematical operator precedence enforced directly through grammar function hierarchy without shift-reduce ambiguities.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Modular AST Nodes (ast_nodes.py): </a:t>
            </a:r>
            <a:r>
              <a:rPr b="0" sz="1300">
                <a:solidFill>
                  <a:srgbClr val="0F172A"/>
                </a:solidFill>
              </a:rPr>
              <a:t>Strongly-typed nodes for Program, VarDecl, IfStmt, WhileStmt, ForStmt, BinaryExpr, AssignExpr, etc.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Visitor Pattern Support: </a:t>
            </a:r>
            <a:r>
              <a:rPr b="0" sz="1300">
                <a:solidFill>
                  <a:srgbClr val="0F172A"/>
                </a:solidFill>
              </a:rPr>
              <a:t>AST nodes accept visitors (accept(self, visitor)) enabling clean decoupled passes for Semantics, TAC IR, and Pretty Printing.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Panic-Mode Recovery: </a:t>
            </a:r>
            <a:r>
              <a:rPr b="0" sz="1300">
                <a:solidFill>
                  <a:srgbClr val="0F172A"/>
                </a:solidFill>
              </a:rPr>
              <a:t>Synchronizes at statement boundaries (semicolons, closing braces) to catch subsequent syntax errors without crashing.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463040"/>
            <a:ext cx="5790895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_phase2_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600200"/>
            <a:ext cx="5516575" cy="621071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Phase 3: Scoped Symbol Table &amp; Semantic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75488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EA580C"/>
                </a:solidFill>
              </a:defRPr>
            </a:pPr>
            <a:r>
              <a:t>Semantic Validation &amp; Scope Engine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Scoped Symbol Table (symbol_table.py): </a:t>
            </a:r>
            <a:r>
              <a:rPr b="0" sz="1300">
                <a:solidFill>
                  <a:srgbClr val="0F172A"/>
                </a:solidFill>
              </a:rPr>
              <a:t>Nested Scope tree maintaining identifier name, data type (int, float, string, bool), scope level, and initialization status.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Variable Shadowing: </a:t>
            </a:r>
            <a:r>
              <a:rPr b="0" sz="1300">
                <a:solidFill>
                  <a:srgbClr val="0F172A"/>
                </a:solidFill>
              </a:rPr>
              <a:t>Inner block scopes can shadow outer symbols; symbol lookups climb the parent scope chain upwards to global scope.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Type Checking (semantic_analyzer.py): </a:t>
            </a:r>
            <a:r>
              <a:rPr b="0" sz="1300">
                <a:solidFill>
                  <a:srgbClr val="0F172A"/>
                </a:solidFill>
              </a:rPr>
              <a:t>Enforces static type compatibility; allows widening int -&gt; float; validates relational &amp; logical operands.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Semantic Error Trapping: </a:t>
            </a:r>
            <a:r>
              <a:rPr b="0" sz="1300">
                <a:solidFill>
                  <a:srgbClr val="0F172A"/>
                </a:solidFill>
              </a:rPr>
              <a:t>Flags duplicate declarations in identical scope, undeclared identifier usage, and uninitialized variable reads.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463040"/>
            <a:ext cx="5790895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phase3_symbol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691640"/>
            <a:ext cx="5516575" cy="41148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Phase 4: Intermediate Code Generation (Three-Address Code)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75488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563EB"/>
                </a:solidFill>
              </a:defRPr>
            </a:pPr>
            <a:r>
              <a:t>Three-Address Code (tac_generator.py)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Linearized Quadruple IR: </a:t>
            </a:r>
            <a:r>
              <a:rPr b="0" sz="1300">
                <a:solidFill>
                  <a:srgbClr val="0F172A"/>
                </a:solidFill>
              </a:rPr>
              <a:t>Lowers high-level nested AST nodes into elementary 3-address instructions with at most 1 operator per instruction.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Register &amp; Label Generation: </a:t>
            </a:r>
            <a:r>
              <a:rPr b="0" sz="1300">
                <a:solidFill>
                  <a:srgbClr val="0F172A"/>
                </a:solidFill>
              </a:rPr>
              <a:t>Emits temporary registers (t0, t1, t2...) for intermediate sub-expressions and symbolic jump labels (L_while_start_0, L_else_2...).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Complete Instruction Set: </a:t>
            </a:r>
            <a:r>
              <a:rPr b="0" sz="1300">
                <a:solidFill>
                  <a:srgbClr val="0F172A"/>
                </a:solidFill>
              </a:rPr>
              <a:t>Supports ASSIGN, ADD, SUB, MUL, DIV, MOD, EQ, NEQ, LT, LE, GT, GE, AND, OR, NOT, GOTO, IF_FALSE, IF_TRUE, PRINT, RETURN.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Clear Machine Abstraction: </a:t>
            </a:r>
            <a:r>
              <a:rPr b="0" sz="1300">
                <a:solidFill>
                  <a:srgbClr val="0F172A"/>
                </a:solidFill>
              </a:rPr>
              <a:t>Isolates front-end language syntax from the underlying execution runtime.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463040"/>
            <a:ext cx="5790895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phase4_tac_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600200"/>
            <a:ext cx="5516575" cy="56261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Phase 5: Execution Engine &amp; TAC Virtual Machine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75488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</a:defRPr>
            </a:pPr>
            <a:r>
              <a:t>Execution Engine (interpreter.py)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TAC Virtual Machine (Primary): </a:t>
            </a:r>
            <a:r>
              <a:rPr b="0" sz="1300">
                <a:solidFill>
                  <a:srgbClr val="0F172A"/>
                </a:solidFill>
              </a:rPr>
              <a:t>Dispatches TAC instructions step-by-step with program counter management, environment register state, and O(1) label index lookups.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AST Tree-Walk Interpreter (Auxiliary): </a:t>
            </a:r>
            <a:r>
              <a:rPr b="0" sz="1300">
                <a:solidFill>
                  <a:srgbClr val="0F172A"/>
                </a:solidFill>
              </a:rPr>
              <a:t>Direct AST traversal execution engine available via --ast-run flag for comparative demonstration in vivas.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Runtime Error Trapping: </a:t>
            </a:r>
            <a:r>
              <a:rPr b="0" sz="1300">
                <a:solidFill>
                  <a:srgbClr val="0F172A"/>
                </a:solidFill>
              </a:rPr>
              <a:t>Gracefully catches and reports division/modulo by zero and guards against infinite execution loops via max-step thresholds.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Program Exit &amp; Output: </a:t>
            </a:r>
            <a:r>
              <a:rPr b="0" sz="1300">
                <a:solidFill>
                  <a:srgbClr val="0F172A"/>
                </a:solidFill>
              </a:rPr>
              <a:t>Captures stdout cleanly in execution buffers and propagates exit return codes (0 on success).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463040"/>
            <a:ext cx="5790895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7_hindi_factorial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011680"/>
            <a:ext cx="5516575" cy="32880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Live End-to-End Execution Evidence (All 5 Stages)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563EB"/>
                </a:solidFill>
              </a:defRPr>
            </a:pPr>
            <a:r>
              <a:t>Full Pipeline Execution: example.custom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Source Code Tested: </a:t>
            </a:r>
            <a:r>
              <a:rPr b="0" sz="1300">
                <a:solidFill>
                  <a:srgbClr val="0F172A"/>
                </a:solidFill>
              </a:rPr>
              <a:t>Custom Hindi keywords script executing while loops (jabtak), float arithmetic (dashamlav), and conditional branching (agar/warna).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Executed Command: </a:t>
            </a:r>
            <a:r>
              <a:rPr b="0" sz="1300">
                <a:solidFill>
                  <a:srgbClr val="0F172A"/>
                </a:solidFill>
              </a:rPr>
              <a:t>python main.py example.custom --all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Complete Pipeline Verification: </a:t>
            </a:r>
            <a:r>
              <a:rPr b="0" sz="1300">
                <a:solidFill>
                  <a:srgbClr val="0F172A"/>
                </a:solidFill>
              </a:rPr>
              <a:t>Simultaneously outputs Token Stream (56 tokens) → AST Tree → Scoped Symbol Table → TAC (20 instructions) → Program Output ('High score achieved!').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Verification Status: </a:t>
            </a:r>
            <a:r>
              <a:rPr b="0" sz="1300">
                <a:solidFill>
                  <a:srgbClr val="0F172A"/>
                </a:solidFill>
              </a:rPr>
              <a:t>Zero lexical, syntax, or semantic errors; exited with return code 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463040"/>
            <a:ext cx="6156655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_full_pipelin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554480"/>
            <a:ext cx="5882335" cy="802490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Robust Multi-Phase Error Diagnostic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42255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F4444"/>
                </a:solidFill>
              </a:defRPr>
            </a:pPr>
            <a:r>
              <a:t>1. LEXICAL ERROR (Phase 1)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Unsupported character '$ @ ~' caught with line/col location.</a:t>
            </a:r>
          </a:p>
        </p:txBody>
      </p:sp>
      <p:pic>
        <p:nvPicPr>
          <p:cNvPr id="8" name="Picture 7" descr="12_error_lex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48840"/>
            <a:ext cx="4967935" cy="256621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463040"/>
            <a:ext cx="5242255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544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F4444"/>
                </a:solidFill>
              </a:defRPr>
            </a:pPr>
            <a:r>
              <a:t>2. SYNTAX ERROR (Phase 2)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Malformed expression 'if (a &gt; 5 {' caught by recursive parser.</a:t>
            </a:r>
          </a:p>
        </p:txBody>
      </p:sp>
      <p:pic>
        <p:nvPicPr>
          <p:cNvPr id="11" name="Picture 10" descr="11_error_synta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48840"/>
            <a:ext cx="4967935" cy="24054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31520" y="3931920"/>
            <a:ext cx="5242255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23359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F4444"/>
                </a:solidFill>
              </a:defRPr>
            </a:pPr>
            <a:r>
              <a:t>3. SEMANTIC ERROR (Phase 3)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Type mismatch assigning string to integer variable 'count'.</a:t>
            </a:r>
          </a:p>
        </p:txBody>
      </p:sp>
      <p:pic>
        <p:nvPicPr>
          <p:cNvPr id="14" name="Picture 13" descr="09_error_type_misma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4967935" cy="1616214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217920" y="3931920"/>
            <a:ext cx="5242255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023359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F4444"/>
                </a:solidFill>
              </a:defRPr>
            </a:pPr>
            <a:r>
              <a:t>4. RUNTIME ERROR (Phase 5)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Division by zero 'a / b' safely trapped at VM execution time.</a:t>
            </a:r>
          </a:p>
        </p:txBody>
      </p:sp>
      <p:pic>
        <p:nvPicPr>
          <p:cNvPr id="17" name="Picture 16" descr="13_error_division_by_z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4617720"/>
            <a:ext cx="4967935" cy="269781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Automated Test Suite &amp; 100% Verification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</a:defRPr>
            </a:pPr>
            <a:r>
              <a:t>Verified 12-Case Test Matrix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✓ 1. Custom Hindi (example.custom): </a:t>
            </a:r>
            <a:r>
              <a:rPr sz="950">
                <a:solidFill>
                  <a:srgbClr val="64748B"/>
                </a:solidFill>
              </a:rPr>
              <a:t>Loops, floats, if/else </a:t>
            </a:r>
            <a:r>
              <a:rPr b="1" sz="950">
                <a:solidFill>
                  <a:srgbClr val="10B981"/>
                </a:solidFill>
              </a:rPr>
              <a:t>[PASSED]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✓ 2. Hindi Factorial: </a:t>
            </a:r>
            <a:r>
              <a:rPr sz="950">
                <a:solidFill>
                  <a:srgbClr val="64748B"/>
                </a:solidFill>
              </a:rPr>
              <a:t>Loop accumulator, compare </a:t>
            </a:r>
            <a:r>
              <a:rPr b="1" sz="950">
                <a:solidFill>
                  <a:srgbClr val="10B981"/>
                </a:solidFill>
              </a:rPr>
              <a:t>[PASSED]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✓ 3. Arithmetic &amp; Precedence: </a:t>
            </a:r>
            <a:r>
              <a:rPr sz="950">
                <a:solidFill>
                  <a:srgbClr val="64748B"/>
                </a:solidFill>
              </a:rPr>
              <a:t>Ops (+,-,*,/,%), comp. assign </a:t>
            </a:r>
            <a:r>
              <a:rPr b="1" sz="950">
                <a:solidFill>
                  <a:srgbClr val="10B981"/>
                </a:solidFill>
              </a:rPr>
              <a:t>[PASSED]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✓ 4. Control Flow &amp; Logic: </a:t>
            </a:r>
            <a:r>
              <a:rPr sz="950">
                <a:solidFill>
                  <a:srgbClr val="64748B"/>
                </a:solidFill>
              </a:rPr>
              <a:t>While, modulo, &amp;&amp;, || </a:t>
            </a:r>
            <a:r>
              <a:rPr b="1" sz="950">
                <a:solidFill>
                  <a:srgbClr val="10B981"/>
                </a:solidFill>
              </a:rPr>
              <a:t>[PASSED]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✓ 5. For Loop: </a:t>
            </a:r>
            <a:r>
              <a:rPr sz="950">
                <a:solidFill>
                  <a:srgbClr val="64748B"/>
                </a:solidFill>
              </a:rPr>
              <a:t>Init, cond, update loop </a:t>
            </a:r>
            <a:r>
              <a:rPr b="1" sz="950">
                <a:solidFill>
                  <a:srgbClr val="10B981"/>
                </a:solidFill>
              </a:rPr>
              <a:t>[PASSED]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✓ 6. String Operations: </a:t>
            </a:r>
            <a:r>
              <a:rPr sz="950">
                <a:solidFill>
                  <a:srgbClr val="64748B"/>
                </a:solidFill>
              </a:rPr>
              <a:t>Concatenation, equality </a:t>
            </a:r>
            <a:r>
              <a:rPr b="1" sz="950">
                <a:solidFill>
                  <a:srgbClr val="10B981"/>
                </a:solidFill>
              </a:rPr>
              <a:t>[PASSED]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✓ 7. Semantic: Type Mismatch: </a:t>
            </a:r>
            <a:r>
              <a:rPr sz="950">
                <a:solidFill>
                  <a:srgbClr val="64748B"/>
                </a:solidFill>
              </a:rPr>
              <a:t>Exit code 3 verified </a:t>
            </a:r>
            <a:r>
              <a:rPr b="1" sz="950">
                <a:solidFill>
                  <a:srgbClr val="10B981"/>
                </a:solidFill>
              </a:rPr>
              <a:t>[PASSED]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✓ 8. Semantic: Undeclared Var: </a:t>
            </a:r>
            <a:r>
              <a:rPr sz="950">
                <a:solidFill>
                  <a:srgbClr val="64748B"/>
                </a:solidFill>
              </a:rPr>
              <a:t>Exit code 3 verified </a:t>
            </a:r>
            <a:r>
              <a:rPr b="1" sz="950">
                <a:solidFill>
                  <a:srgbClr val="10B981"/>
                </a:solidFill>
              </a:rPr>
              <a:t>[PASSED]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✓ 9. Semantic: Duplicate Decl: </a:t>
            </a:r>
            <a:r>
              <a:rPr sz="950">
                <a:solidFill>
                  <a:srgbClr val="64748B"/>
                </a:solidFill>
              </a:rPr>
              <a:t>Exit code 3 verified </a:t>
            </a:r>
            <a:r>
              <a:rPr b="1" sz="950">
                <a:solidFill>
                  <a:srgbClr val="10B981"/>
                </a:solidFill>
              </a:rPr>
              <a:t>[PASSED]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✓ 10. Syntax: Malformed Expr: </a:t>
            </a:r>
            <a:r>
              <a:rPr sz="950">
                <a:solidFill>
                  <a:srgbClr val="64748B"/>
                </a:solidFill>
              </a:rPr>
              <a:t>Exit code 2 verified </a:t>
            </a:r>
            <a:r>
              <a:rPr b="1" sz="950">
                <a:solidFill>
                  <a:srgbClr val="10B981"/>
                </a:solidFill>
              </a:rPr>
              <a:t>[PASSED]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✓ 11. Lexical: Bad Characters: </a:t>
            </a:r>
            <a:r>
              <a:rPr sz="950">
                <a:solidFill>
                  <a:srgbClr val="64748B"/>
                </a:solidFill>
              </a:rPr>
              <a:t>Exit code 1 verified </a:t>
            </a:r>
            <a:r>
              <a:rPr b="1" sz="950">
                <a:solidFill>
                  <a:srgbClr val="10B981"/>
                </a:solidFill>
              </a:rPr>
              <a:t>[PASSED]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✓ 12. Runtime: Zero Division: </a:t>
            </a:r>
            <a:r>
              <a:rPr sz="950">
                <a:solidFill>
                  <a:srgbClr val="64748B"/>
                </a:solidFill>
              </a:rPr>
              <a:t>Exit code 4 verified </a:t>
            </a:r>
            <a:r>
              <a:rPr b="1" sz="950">
                <a:solidFill>
                  <a:srgbClr val="10B981"/>
                </a:solidFill>
              </a:rPr>
              <a:t>[PASSED]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63040"/>
            <a:ext cx="5516575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test_suite_ru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00200"/>
            <a:ext cx="5333695" cy="45281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Compliance Matrix: Planned Proposal vs Final Implementation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3931920"/>
                <a:gridCol w="1493215"/>
              </a:tblGrid>
              <a:tr h="538480">
                <a:tc>
                  <a:txBody>
                    <a:bodyPr/>
                    <a:lstStyle/>
                    <a:p>
                      <a:pPr algn="l">
                        <a:defRPr b="1" sz="1100">
                          <a:solidFill>
                            <a:srgbClr val="F8FAFC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100">
                          <a:solidFill>
                            <a:srgbClr val="F8FAFC"/>
                          </a:solidFill>
                        </a:defRPr>
                      </a:pPr>
                      <a:r>
                        <a:t>Review 1 Proposal Target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100">
                          <a:solidFill>
                            <a:srgbClr val="F8FAFC"/>
                          </a:solidFill>
                        </a:defRPr>
                      </a:pPr>
                      <a:r>
                        <a:t>Final Review 3 Delivery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8FAFC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Lexical Analyzer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Data-driven tokenization with custom keywords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Dynamic JSON-driven lexer with line/col tracking &amp; Hindi mappings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Parser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Recursive descent parser for imperative constructs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Full recursive descent with precedence climbing &amp; error recovery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AST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Modular AST node hierarchy with visitor pattern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Typed AST nodes with visitor interface &amp; visual ASCII tree printer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Symbol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Scoped variable table with type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Hierarchical Scope trees, variable shadowing &amp; initialization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Semantic Analyzer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Type checking &amp; undeclared identifier detection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Static type inference, widening int-&gt;float, duplicate decl checks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Intermediate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Three-Address Code (TAC) generation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Linearized TAC quadruples with temporaries (t0..) and labels (L0..)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Execution Engine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Interpreter executing EduScript code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TAC Virtual Machine + auxiliary AST Tree-Walk Interpreter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Testing Suite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Automated validation of language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12 automated test cases with 100.0% pass rate &amp; CI-ready runner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Technical Innovations &amp; Engineering Highlights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578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63EB"/>
                </a:solidFill>
              </a:defRPr>
            </a:pPr>
            <a:r>
              <a:t>1. Dynamic JSON Keyword Customization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Enables localized / multilingual programming (e.g. Hindi keywords agar, jabtak, purnaank) without altering parser grammar rules. The Lexer normalizes custom aliases to canonical tags transparently.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463040"/>
            <a:ext cx="52578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600200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7C3AED"/>
                </a:solidFill>
              </a:defRPr>
            </a:pPr>
            <a:r>
              <a:t>2. Total Academic Transparency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Unlike black-box compilers, every intermediate stage (Tokens, AST, Symbol Table, TAC IR) is fully inspectable via dedicated CLI flags (--tokens, --ast, --symbols, --tac, --all).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52578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3. Dual-Execution Architecture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Features both a Three-Address Code Virtual Machine (executing linearized IR) and an AST Tree-Walk Interpreter, allowing direct comparison of IR vs AST execution in compiler vivas.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931920"/>
            <a:ext cx="5257800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069080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EA580C"/>
                </a:solidFill>
              </a:defRPr>
            </a:pPr>
            <a:r>
              <a:t>4. Production-Grade Diagnostic Pinpointing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Multi-phase error trapping with exact line and column coordinates, detailed error classification (Lexical, Syntax, TypeError, UndeclaredVariable, RuntimeError), and panic-mode recovery.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Compiler Design Viva Q&amp;A — Key Technical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361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</a:defRPr>
            </a:pPr>
            <a:r>
              <a:t>Q1: How does the parser handle custom Hindi keywords?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A1: The Lexer scans custom lexemes (e.g. 'jabtak') and looks up keyword_mapping.json to attach canonical='while'. The Parser only checks the canonical identity, keeping the grammar completely decoupled and multilingual.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70048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</a:defRPr>
            </a:pPr>
            <a:r>
              <a:t>Q2: What is the purpose of generating Three-Address Code before interpretation?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A2: TAC flattens complex nested AST expressions into linear quadruples with temporary variables (t0, t1...) and jump labels, creating an explicit machine-independent IR ideal for optimization and VM dispatch.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77056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50208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</a:defRPr>
            </a:pPr>
            <a:r>
              <a:t>Q3: How does the symbol table handle variable shadowing in nested blocks?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A3: Each block creates a child Scope referencing its parent. Variable lookups search the innermost scope first and traverse parent pointers upwards, allowing inner variables to shadow outer symbols correctly.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84064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57216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</a:defRPr>
            </a:pPr>
            <a:r>
              <a:t>Q4: How does panic-mode error recovery prevent cascading syntax errors?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A4: When a syntax error occurs, the parser logs the error and discards subsequent tokens until it encounters a synchronization boundary (semicolon, closing brace, or statement-initiating keyword).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GitHub Repository &amp; Deliverables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75488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Repository &amp; Version Control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GitHub Repository: </a:t>
            </a:r>
            <a:r>
              <a:rPr b="0" sz="1300">
                <a:solidFill>
                  <a:srgbClr val="0F172A"/>
                </a:solidFill>
              </a:rPr>
              <a:t>https://github.com/Udbhav-Tiwari16/EduScript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Active Branch: </a:t>
            </a:r>
            <a:r>
              <a:rPr b="0" sz="1300">
                <a:solidFill>
                  <a:srgbClr val="0F172A"/>
                </a:solidFill>
              </a:rPr>
              <a:t>main (Commit: c7fd7f7)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Final Project Deliverables: </a:t>
            </a:r>
            <a:r>
              <a:rPr b="0" sz="1300">
                <a:solidFill>
                  <a:srgbClr val="0F172A"/>
                </a:solidFill>
              </a:rPr>
              <a:t>Complete Working Source Code, Test Suite (12 test cases), Test Results (100% pass), Terminal Screenshots, Final Presentation (.pptx), User Guide.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Individual Project: </a:t>
            </a:r>
            <a:r>
              <a:rPr b="0" sz="1300">
                <a:solidFill>
                  <a:srgbClr val="0F172A"/>
                </a:solidFill>
              </a:rPr>
              <a:t>Sole author and developer: Udbhav Tiwari (Reg No: 24BCT0328).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463040"/>
            <a:ext cx="5790895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4_git_status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011680"/>
            <a:ext cx="5516575" cy="1184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EDUSCRIPT COMPILER DESIGN • REVIEW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457200"/>
            <a:ext cx="2133295" cy="32004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✓ 100%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Conclusion &amp; Future Enhancements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Project Summary &amp; Conclusion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Comprehensive Implementation: </a:t>
            </a:r>
            <a:r>
              <a:rPr b="0" sz="1300">
                <a:solidFill>
                  <a:srgbClr val="0F172A"/>
                </a:solidFill>
              </a:rPr>
              <a:t>EduScript fulfills all theoretical and practical requirements of a complete compiler/interpreter pipeline.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Educational &amp; Modular: </a:t>
            </a:r>
            <a:r>
              <a:rPr b="0" sz="1300">
                <a:solidFill>
                  <a:srgbClr val="0F172A"/>
                </a:solidFill>
              </a:rPr>
              <a:t>Every stage is decoupled, inspectable, and built in pure Python standard library for maximum readability.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Fully Verified: </a:t>
            </a:r>
            <a:r>
              <a:rPr b="0" sz="1300">
                <a:solidFill>
                  <a:srgbClr val="0F172A"/>
                </a:solidFill>
              </a:rPr>
              <a:t>100% test pass rate across 12 automated test cases covering valid programs, custom keywords, and error handling.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Ready for Evaluation: </a:t>
            </a:r>
            <a:r>
              <a:rPr b="0" sz="1300">
                <a:solidFill>
                  <a:srgbClr val="0F172A"/>
                </a:solidFill>
              </a:rPr>
              <a:t>Complete source code committed and pushed to GitHub repository.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764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563EB"/>
                </a:solidFill>
              </a:defRPr>
            </a:pPr>
            <a:r>
              <a:t>Future Scope &amp; Enhancements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TAC Optimization Passes: </a:t>
            </a:r>
            <a:r>
              <a:rPr b="0" sz="1300">
                <a:solidFill>
                  <a:srgbClr val="0F172A"/>
                </a:solidFill>
              </a:rPr>
              <a:t>Dead code elimination, constant folding, constant propagation, and common subexpression elimination (CSE).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Bytecode / Assembly Target: </a:t>
            </a:r>
            <a:r>
              <a:rPr b="0" sz="1300">
                <a:solidFill>
                  <a:srgbClr val="0F172A"/>
                </a:solidFill>
              </a:rPr>
              <a:t>Compiling TAC to Python bytecode (.pyc) or LLVM IR for native machine execution.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User-Defined Functions &amp; Arrays: </a:t>
            </a:r>
            <a:r>
              <a:rPr b="0" sz="1300">
                <a:solidFill>
                  <a:srgbClr val="0F172A"/>
                </a:solidFill>
              </a:rPr>
              <a:t>Expanding runtime stack frames to support recursive function calls and array data structures.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Interactive Web Playground: </a:t>
            </a:r>
            <a:r>
              <a:rPr b="0" sz="1300">
                <a:solidFill>
                  <a:srgbClr val="0F172A"/>
                </a:solidFill>
              </a:rPr>
              <a:t>WebAssembly frontend allowing students to visualize AST trees and TAC steps interactively in a browser.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