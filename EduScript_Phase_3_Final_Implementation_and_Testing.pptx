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80160"/>
            <a:ext cx="530352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FDBFE"/>
                </a:solidFill>
              </a:defRPr>
            </a:pPr>
            <a:r>
              <a:t>COMPILER DESIGN LAB • PHASE 3: FINAL IMPLEMENTATION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EduScript: A Customizable Lightweight Compiler and Interpreter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End-to-End Compiler Pipeline: Lexical Analysis → Recursive Descent Parser → AST → Scoped Symbol Table → Semantic Analyzer → Three-Address Code (TAC) → Virtual Machine Interpreter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STUDENT NAME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Udbhav Tiwari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663440"/>
            <a:ext cx="2423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REGISTER NUMBER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24BCT0328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4663440"/>
            <a:ext cx="24231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COURSE &amp; SUBMISSION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CD Lab • Phase 3 (Final)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4663440"/>
            <a:ext cx="2423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69680" y="4663440"/>
            <a:ext cx="242316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"/>
              </a:spcBef>
              <a:defRPr sz="1000" b="1">
                <a:solidFill>
                  <a:srgbClr val="94A3B8"/>
                </a:solidFill>
              </a:defRPr>
            </a:pPr>
            <a:r>
              <a:t>PROJECT TYPE</a:t>
            </a:r>
          </a:p>
          <a:p>
            <a:pPr>
              <a:spcBef>
                <a:spcPts val="400"/>
              </a:spcBef>
              <a:defRPr sz="1400" b="1">
                <a:solidFill>
                  <a:srgbClr val="F8FAFC"/>
                </a:solidFill>
              </a:defRPr>
            </a:pPr>
            <a:r>
              <a:t>Individual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4663440"/>
            <a:ext cx="242316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3 Objectives &amp; Final System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Complete 5-Stage Compiler Pipeline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Lexical Analysis (lexer.py): </a:t>
            </a:r>
            <a:r>
              <a:rPr b="0" sz="1300">
                <a:solidFill>
                  <a:srgbClr val="0F172A"/>
                </a:solidFill>
              </a:rPr>
              <a:t>Tokenizes raw source with exact line/col tracking and normalizes custom keywords (agar, jabtak, purnaank, etc.) via JSON mappings.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Syntax Analysis (parser.py): </a:t>
            </a:r>
            <a:r>
              <a:rPr b="0" sz="1300">
                <a:solidFill>
                  <a:srgbClr val="0F172A"/>
                </a:solidFill>
              </a:rPr>
              <a:t>Recursive descent parsing with full precedence climbing; constructs structured Abstract Syntax Trees with panic-mode recovery.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Semantic Analysis (semantic_analyzer.py): </a:t>
            </a:r>
            <a:r>
              <a:rPr b="0" sz="1300">
                <a:solidFill>
                  <a:srgbClr val="0F172A"/>
                </a:solidFill>
              </a:rPr>
              <a:t>Enforces static type checking, scoped symbol table lookups, variable shadowing, and diagnostic validation.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Intermediate Code (tac_generator.py): </a:t>
            </a:r>
            <a:r>
              <a:rPr b="0" sz="1300">
                <a:solidFill>
                  <a:srgbClr val="0F172A"/>
                </a:solidFill>
              </a:rPr>
              <a:t>Emits linearized Three-Address Code (TAC) with temporary registers (t0, t1...) and jump labels (L0, L1...).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5. Execution Engine (interpreter.py): </a:t>
            </a:r>
            <a:r>
              <a:rPr b="0" sz="1300">
                <a:solidFill>
                  <a:srgbClr val="0F172A"/>
                </a:solidFill>
              </a:rPr>
              <a:t>Custom TAC Virtual Machine instruction dispatcher, plus auxiliary AST Tree-Walk execution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Phase 3 Implementation &amp; Testing Highlights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100% Implemented &amp; Tested: </a:t>
            </a:r>
            <a:r>
              <a:rPr b="0" sz="1300">
                <a:solidFill>
                  <a:srgbClr val="0F172A"/>
                </a:solidFill>
              </a:rPr>
              <a:t>Zero mockups or placeholders; fully working end-to-end interpreter executing real programs.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Multilingual/Custom Keywords: </a:t>
            </a:r>
            <a:r>
              <a:rPr b="0" sz="1300">
                <a:solidFill>
                  <a:srgbClr val="0F172A"/>
                </a:solidFill>
              </a:rPr>
              <a:t>Supports native Hindi keywords (purnaank, agar, warna, jabtak, dikhao, wapas) mapped to canonical constructs.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Comprehensive Test Suite: </a:t>
            </a:r>
            <a:r>
              <a:rPr b="0" sz="1300">
                <a:solidFill>
                  <a:srgbClr val="0F172A"/>
                </a:solidFill>
              </a:rPr>
              <a:t>12 automated test cases covering valid programs, Hindi keywords, arithmetic, for/while loops, and error diagnostics.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Academic Transparency: </a:t>
            </a:r>
            <a:r>
              <a:rPr b="0" sz="1300">
                <a:solidFill>
                  <a:srgbClr val="0F172A"/>
                </a:solidFill>
              </a:rPr>
              <a:t>CLI flags (--tokens, --ast, --symbols, --tac, --all) allow live inspection of every single compiler transformation stage.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Zero External Dependencies: </a:t>
            </a:r>
            <a:r>
              <a:rPr b="0" sz="1300">
                <a:solidFill>
                  <a:srgbClr val="0F172A"/>
                </a:solidFill>
              </a:rPr>
              <a:t>Built natively with Python standard library for maximum portability and educational clarity.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 &amp; Inter-Module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5603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STAGE 1: SCANNER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lexer.py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.custom / .edu source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List[Token]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JSON keyword mapping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Exact Line:Col tracking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Non-fatal lexical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56432" y="1463040"/>
            <a:ext cx="25603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7C3AED"/>
                </a:solidFill>
              </a:defRPr>
            </a:pPr>
            <a:r>
              <a:t>STAGE 2: PARSER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parser.py &amp; ast_nodes.py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List[Token]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Program AST Node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Recursive descent parser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Operator precedence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Panic-mode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1463040"/>
            <a:ext cx="2560320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A580C"/>
                </a:solidFill>
              </a:defRPr>
            </a:pPr>
            <a:r>
              <a:t>STAGE 3: SEMANTIC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symbol_table.py &amp; analyzer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Program AST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Validated AST + SymTab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Lexical scope hierarchy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Static type compatibility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Scope &amp; symbol checking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463040"/>
            <a:ext cx="2560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06256" y="1463040"/>
            <a:ext cx="25603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STAGE 4 &amp; 5: IR &amp; VM</a:t>
            </a:r>
          </a:p>
          <a:p>
            <a:pPr>
              <a:spcAft>
                <a:spcPts val="1000"/>
              </a:spcAft>
              <a:defRPr sz="1100" b="1">
                <a:solidFill>
                  <a:srgbClr val="64748B"/>
                </a:solidFill>
              </a:defRPr>
            </a:pPr>
            <a:r>
              <a:t>tac_generator &amp; interpreter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Input: Validated AST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Output: Execution &amp; Output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3-Address Code generation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Virtual Machine execution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Runtime safety &amp;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1: Lexical Analysis &amp; Custom Keyword Normalization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Lexer Design &amp; Keyword Normalization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Data-Driven Lexer (lexer.py): </a:t>
            </a:r>
            <a:r>
              <a:rPr b="0" sz="1300">
                <a:solidFill>
                  <a:srgbClr val="0F172A"/>
                </a:solidFill>
              </a:rPr>
              <a:t>Loads token specifications from default_tokens.json and keyword aliases from keyword_mapping.json.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Transparent Normalization: </a:t>
            </a:r>
            <a:r>
              <a:rPr b="0" sz="1300">
                <a:solidFill>
                  <a:srgbClr val="0F172A"/>
                </a:solidFill>
              </a:rPr>
              <a:t>Custom words (purnaank, jabtak, agar) are converted into canonical tokens (int, while, if) while preserving original lexemes.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Longest-Match Operators: </a:t>
            </a:r>
            <a:r>
              <a:rPr b="0" sz="1300">
                <a:solidFill>
                  <a:srgbClr val="0F172A"/>
                </a:solidFill>
              </a:rPr>
              <a:t>Multi-character operators (==, !=, &lt;=, &gt;=, +=, -=) sorted by length to match before single-character operators (=, &lt;).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Position Tracking: </a:t>
            </a:r>
            <a:r>
              <a:rPr b="0" sz="1300">
                <a:solidFill>
                  <a:srgbClr val="0F172A"/>
                </a:solidFill>
              </a:rPr>
              <a:t>Tracks exact 1-based line and column coordinates for every token, enabling pinpoint compiler error messages.</a:t>
            </a:r>
          </a:p>
        </p:txBody>
      </p:sp>
      <p:pic>
        <p:nvPicPr>
          <p:cNvPr id="8" name="Picture 7" descr="03_phase1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9304"/>
            <a:ext cx="5623560" cy="5334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2: Syntax Analysis &amp; Abstract Syntax Tree (AST)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7C3AED"/>
                </a:solidFill>
              </a:defRPr>
            </a:pPr>
            <a:r>
              <a:t>Recursive Descent Parser (parser.py)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Precedence Climbing: </a:t>
            </a:r>
            <a:r>
              <a:rPr b="0" sz="1300">
                <a:solidFill>
                  <a:srgbClr val="0F172A"/>
                </a:solidFill>
              </a:rPr>
              <a:t>Mathematical operator precedence enforced directly through grammar function hierarchy without shift-reduce ambiguities.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Modular AST Nodes (ast_nodes.py): </a:t>
            </a:r>
            <a:r>
              <a:rPr b="0" sz="1300">
                <a:solidFill>
                  <a:srgbClr val="0F172A"/>
                </a:solidFill>
              </a:rPr>
              <a:t>Strongly-typed nodes for Program, VarDecl, IfStmt, WhileStmt, ForStmt, BinaryExpr, AssignExpr, etc.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Visitor Pattern Support: </a:t>
            </a:r>
            <a:r>
              <a:rPr b="0" sz="1300">
                <a:solidFill>
                  <a:srgbClr val="0F172A"/>
                </a:solidFill>
              </a:rPr>
              <a:t>AST nodes accept visitors (accept(self, visitor)) enabling clean decoupled passes for Semantics, TAC IR, and Pretty Printing.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Panic-Mode Recovery: </a:t>
            </a:r>
            <a:r>
              <a:rPr b="0" sz="1300">
                <a:solidFill>
                  <a:srgbClr val="0F172A"/>
                </a:solidFill>
              </a:rPr>
              <a:t>Synchronizes at statement boundaries (semicolons, closing braces) to catch subsequent syntax errors without crashing.</a:t>
            </a:r>
          </a:p>
        </p:txBody>
      </p:sp>
      <p:pic>
        <p:nvPicPr>
          <p:cNvPr id="8" name="Picture 7" descr="04_phase2_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9304"/>
            <a:ext cx="5623560" cy="5938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3: Scoped Symbol Table &amp; Semantic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A580C"/>
                </a:solidFill>
              </a:defRPr>
            </a:pPr>
            <a:r>
              <a:t>Semantic Validation &amp; Scope Engine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Scoped Symbol Table (symbol_table.py): </a:t>
            </a:r>
            <a:r>
              <a:rPr b="0" sz="1300">
                <a:solidFill>
                  <a:srgbClr val="0F172A"/>
                </a:solidFill>
              </a:rPr>
              <a:t>Nested Scope tree maintaining identifier name, data type (int, float, string, bool), scope level, and initialization status.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Variable Shadowing: </a:t>
            </a:r>
            <a:r>
              <a:rPr b="0" sz="1300">
                <a:solidFill>
                  <a:srgbClr val="0F172A"/>
                </a:solidFill>
              </a:rPr>
              <a:t>Inner block scopes can shadow outer symbols; symbol lookups climb the parent scope chain upwards to global scope.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Type Checking (semantic_analyzer.py): </a:t>
            </a:r>
            <a:r>
              <a:rPr b="0" sz="1300">
                <a:solidFill>
                  <a:srgbClr val="0F172A"/>
                </a:solidFill>
              </a:rPr>
              <a:t>Enforces static type compatibility; allows widening int -&gt; float; validates relational &amp; logical operands.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Semantic Error Trapping: </a:t>
            </a:r>
            <a:r>
              <a:rPr b="0" sz="1300">
                <a:solidFill>
                  <a:srgbClr val="0F172A"/>
                </a:solidFill>
              </a:rPr>
              <a:t>Flags duplicate declarations in identical scope, undeclared identifier usage, and uninitialized variable reads.</a:t>
            </a:r>
          </a:p>
        </p:txBody>
      </p:sp>
      <p:pic>
        <p:nvPicPr>
          <p:cNvPr id="8" name="Picture 7" descr="05_phase3_symbol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91640"/>
            <a:ext cx="5623560" cy="37780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4: Intermediate Code Generation (Three-Address Code)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Three-Address Code (tac_generator.py)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Linearized Quadruple IR: </a:t>
            </a:r>
            <a:r>
              <a:rPr b="0" sz="1300">
                <a:solidFill>
                  <a:srgbClr val="0F172A"/>
                </a:solidFill>
              </a:rPr>
              <a:t>Lowers high-level nested AST nodes into elementary 3-address instructions with at most 1 operator per instruction.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Register &amp; Label Generation: </a:t>
            </a:r>
            <a:r>
              <a:rPr b="0" sz="1300">
                <a:solidFill>
                  <a:srgbClr val="0F172A"/>
                </a:solidFill>
              </a:rPr>
              <a:t>Emits temporary registers (t0, t1, t2...) for intermediate sub-expressions and symbolic jump labels (L_while_start_0, L_else_2...).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Complete Instruction Set: </a:t>
            </a:r>
            <a:r>
              <a:rPr b="0" sz="1300">
                <a:solidFill>
                  <a:srgbClr val="0F172A"/>
                </a:solidFill>
              </a:rPr>
              <a:t>Supports ASSIGN, ADD, SUB, MUL, DIV, MOD, EQ, NEQ, LT, LE, GT, GE, AND, OR, NOT, GOTO, IF_FALSE, IF_TRUE, PRINT, RETURN.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Clear Machine Abstraction: </a:t>
            </a:r>
            <a:r>
              <a:rPr b="0" sz="1300">
                <a:solidFill>
                  <a:srgbClr val="0F172A"/>
                </a:solidFill>
              </a:rPr>
              <a:t>Isolates front-end language syntax from the underlying execution runtime.</a:t>
            </a:r>
          </a:p>
        </p:txBody>
      </p:sp>
      <p:pic>
        <p:nvPicPr>
          <p:cNvPr id="8" name="Picture 7" descr="06_phase4_tac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289304"/>
            <a:ext cx="5623560" cy="5334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5: Execution Engine &amp; TAC Virtual Machine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Execution Engine (interpreter.py)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TAC Virtual Machine (Primary): </a:t>
            </a:r>
            <a:r>
              <a:rPr b="0" sz="1300">
                <a:solidFill>
                  <a:srgbClr val="0F172A"/>
                </a:solidFill>
              </a:rPr>
              <a:t>Dispatches TAC instructions step-by-step with program counter management, environment register state, and O(1) label index lookups.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AST Tree-Walk Interpreter (Auxiliary): </a:t>
            </a:r>
            <a:r>
              <a:rPr b="0" sz="1300">
                <a:solidFill>
                  <a:srgbClr val="0F172A"/>
                </a:solidFill>
              </a:rPr>
              <a:t>Direct AST traversal execution engine available via --ast-run flag for comparative demonstration.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Runtime Error Trapping: </a:t>
            </a:r>
            <a:r>
              <a:rPr b="0" sz="1300">
                <a:solidFill>
                  <a:srgbClr val="0F172A"/>
                </a:solidFill>
              </a:rPr>
              <a:t>Gracefully catches and reports division/modulo by zero and guards against infinite execution loops via max-step thresholds.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Program Exit &amp; Output: </a:t>
            </a:r>
            <a:r>
              <a:rPr b="0" sz="1300">
                <a:solidFill>
                  <a:srgbClr val="0F172A"/>
                </a:solidFill>
              </a:rPr>
              <a:t>Captures stdout cleanly in execution buffers and propagates exit return codes (0 on success).</a:t>
            </a:r>
          </a:p>
        </p:txBody>
      </p:sp>
      <p:pic>
        <p:nvPicPr>
          <p:cNvPr id="8" name="Picture 7" descr="07_hindi_factorial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20240"/>
            <a:ext cx="5623560" cy="2918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Live End-to-End Execution Evidence (All 5 Stages)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33856"/>
            <a:ext cx="4389120" cy="51755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Full Pipeline Execution: example.custom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Source Code Tested: </a:t>
            </a:r>
            <a:r>
              <a:rPr b="0" sz="1300">
                <a:solidFill>
                  <a:srgbClr val="0F172A"/>
                </a:solidFill>
              </a:rPr>
              <a:t>Custom Hindi keywords script executing while loops (jabtak), float arithmetic (dashamlav), and conditional branching (agar/warna).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Executed Command: </a:t>
            </a:r>
            <a:r>
              <a:rPr b="0" sz="1300">
                <a:solidFill>
                  <a:srgbClr val="0F172A"/>
                </a:solidFill>
              </a:rPr>
              <a:t>python main.py example.custom --all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Complete Pipeline Verification: </a:t>
            </a:r>
            <a:r>
              <a:rPr b="0" sz="1300">
                <a:solidFill>
                  <a:srgbClr val="0F172A"/>
                </a:solidFill>
              </a:rPr>
              <a:t>Simultaneously outputs Token Stream (56 tokens) → AST Tree → Scoped Symbol Table → TAC (20 instructions) → Program Output ('High score achieved!').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Verification Status: </a:t>
            </a:r>
            <a:r>
              <a:rPr b="0" sz="1300">
                <a:solidFill>
                  <a:srgbClr val="0F172A"/>
                </a:solidFill>
              </a:rPr>
              <a:t>Zero lexical, syntax, or semantic errors; exited with return code 0.</a:t>
            </a:r>
          </a:p>
        </p:txBody>
      </p:sp>
      <p:pic>
        <p:nvPicPr>
          <p:cNvPr id="8" name="Picture 7" descr="02_full_pipeline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33856"/>
            <a:ext cx="5989320" cy="77713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Robust Multi-Phase Error Diagnostic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1. LEXICAL ERROR (Phase 1)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Unsupported character '$ @ ~' caught with line/col location.</a:t>
            </a:r>
          </a:p>
        </p:txBody>
      </p:sp>
      <p:pic>
        <p:nvPicPr>
          <p:cNvPr id="8" name="Picture 7" descr="12_error_lex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21408"/>
            <a:ext cx="4967935" cy="21783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146304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2. SYNTAX ERROR (Phase 2)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Malformed expression 'if (a &gt; 5 {' caught by recursive parser.</a:t>
            </a:r>
          </a:p>
        </p:txBody>
      </p:sp>
      <p:pic>
        <p:nvPicPr>
          <p:cNvPr id="11" name="Picture 10" descr="11_error_synt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21408"/>
            <a:ext cx="4967935" cy="202011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" y="393192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2335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3. SEMANTIC ERROR (Phase 3)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Type mismatch assigning string to integer variable 'count'.</a:t>
            </a:r>
          </a:p>
        </p:txBody>
      </p:sp>
      <p:pic>
        <p:nvPicPr>
          <p:cNvPr id="14" name="Picture 13" descr="09_error_type_mis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90288"/>
            <a:ext cx="4967935" cy="133617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3931920"/>
            <a:ext cx="5242255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02335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4. RUNTIME ERROR (Phase 5)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Division by zero 'a / b' safely trapped at VM execution time.</a:t>
            </a:r>
          </a:p>
        </p:txBody>
      </p:sp>
      <p:pic>
        <p:nvPicPr>
          <p:cNvPr id="17" name="Picture 16" descr="13_error_division_by_z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590288"/>
            <a:ext cx="4967935" cy="23117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3 Testing Strategy &amp; 100% Verification Proof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502920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6634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Verified 12-Case Test Matrix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1. Custom Hindi (example.custom): </a:t>
            </a:r>
            <a:r>
              <a:rPr sz="950">
                <a:solidFill>
                  <a:srgbClr val="64748B"/>
                </a:solidFill>
              </a:rPr>
              <a:t>Loops, floats, if/else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2. Hindi Factorial: </a:t>
            </a:r>
            <a:r>
              <a:rPr sz="950">
                <a:solidFill>
                  <a:srgbClr val="64748B"/>
                </a:solidFill>
              </a:rPr>
              <a:t>Loop accumulator, compare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3. Arithmetic &amp; Precedence: </a:t>
            </a:r>
            <a:r>
              <a:rPr sz="950">
                <a:solidFill>
                  <a:srgbClr val="64748B"/>
                </a:solidFill>
              </a:rPr>
              <a:t>Ops (+,-,*,/,%), comp. assign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4. Control Flow &amp; Logic: </a:t>
            </a:r>
            <a:r>
              <a:rPr sz="950">
                <a:solidFill>
                  <a:srgbClr val="64748B"/>
                </a:solidFill>
              </a:rPr>
              <a:t>While, modulo, &amp;&amp;, ||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5. For Loop: </a:t>
            </a:r>
            <a:r>
              <a:rPr sz="950">
                <a:solidFill>
                  <a:srgbClr val="64748B"/>
                </a:solidFill>
              </a:rPr>
              <a:t>Init, cond, update loop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6. String Operations: </a:t>
            </a:r>
            <a:r>
              <a:rPr sz="950">
                <a:solidFill>
                  <a:srgbClr val="64748B"/>
                </a:solidFill>
              </a:rPr>
              <a:t>Concatenation, equality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7. Semantic: Type Mismatch: </a:t>
            </a:r>
            <a:r>
              <a:rPr sz="950">
                <a:solidFill>
                  <a:srgbClr val="64748B"/>
                </a:solidFill>
              </a:rPr>
              <a:t>Exit code 3 verified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8. Semantic: Undeclared Var: </a:t>
            </a:r>
            <a:r>
              <a:rPr sz="950">
                <a:solidFill>
                  <a:srgbClr val="64748B"/>
                </a:solidFill>
              </a:rPr>
              <a:t>Exit code 3 verified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9. Semantic: Duplicate Decl: </a:t>
            </a:r>
            <a:r>
              <a:rPr sz="950">
                <a:solidFill>
                  <a:srgbClr val="64748B"/>
                </a:solidFill>
              </a:rPr>
              <a:t>Exit code 3 verified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10. Syntax: Malformed Expr: </a:t>
            </a:r>
            <a:r>
              <a:rPr sz="950">
                <a:solidFill>
                  <a:srgbClr val="64748B"/>
                </a:solidFill>
              </a:rPr>
              <a:t>Exit code 2 verified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11. Lexical: Bad Characters: </a:t>
            </a:r>
            <a:r>
              <a:rPr sz="950">
                <a:solidFill>
                  <a:srgbClr val="64748B"/>
                </a:solidFill>
              </a:rPr>
              <a:t>Exit code 1 verified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  <a:p>
            <a:pPr>
              <a:spcAft>
                <a:spcPts val="200"/>
              </a:spcAft>
            </a:pPr>
            <a:r>
              <a:rPr b="1" sz="950">
                <a:solidFill>
                  <a:srgbClr val="0F172A"/>
                </a:solidFill>
              </a:rPr>
              <a:t>✓ 12. Runtime: Zero Division: </a:t>
            </a:r>
            <a:r>
              <a:rPr sz="950">
                <a:solidFill>
                  <a:srgbClr val="64748B"/>
                </a:solidFill>
              </a:rPr>
              <a:t>Exit code 4 verified </a:t>
            </a:r>
            <a:r>
              <a:rPr b="1" sz="950">
                <a:solidFill>
                  <a:srgbClr val="10B981"/>
                </a:solidFill>
              </a:rPr>
              <a:t>[PASSED]</a:t>
            </a:r>
          </a:p>
        </p:txBody>
      </p:sp>
      <p:pic>
        <p:nvPicPr>
          <p:cNvPr id="8" name="Picture 7" descr="01_test_suite_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9304"/>
            <a:ext cx="5516575" cy="43920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Compliance Matrix: Planned Proposal vs Final Implementation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931920"/>
                <a:gridCol w="1493215"/>
              </a:tblGrid>
              <a:tr h="53848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Initial Proposal Target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Phase 3 Final Delivery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Lexical Analyzer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Data-driven tokenization with custom keywords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Dynamic JSON-driven lexer with line/col tracking &amp; Hindi mappings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Recursive descent parser for imperative constructs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Full recursive descent with precedence climbing &amp; error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Modular AST node hierarchy with visitor pattern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Typed AST nodes with visitor interface &amp; visual ASCII tree printer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Symbol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Scoped variable table with type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Hierarchical Scope trees, variable shadowing &amp; initialization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Semantic Analyzer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Type checking &amp; undeclared identifier detection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Static type inference, widening int-&gt;float, duplicate decl checks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Intermediate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Three-Address Code (TAC)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Linearized TAC quadruples with temporaries (t0..) and labels (L0..)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Execution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Interpreter executing EduScript code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TAC Virtual Machine + auxiliary AST Tree-Walk Interpreter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Testing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Automated validation of language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12 automated test cases with 100.0% pass rate &amp; CI-ready runner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Technical Innovations &amp; Engineering Highlights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257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63EB"/>
                </a:solidFill>
              </a:defRPr>
            </a:pPr>
            <a:r>
              <a:t>1. Dynamic JSON Keyword Customization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Enables localized / multilingual programming (e.g. Hindi keywords agar, jabtak, purnaank) without altering parser grammar rules. The Lexer normalizes custom aliases to canonical tags transparently.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63040"/>
            <a:ext cx="52578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0020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7C3AED"/>
                </a:solidFill>
              </a:defRPr>
            </a:pPr>
            <a:r>
              <a:t>2. Total Academic Transparency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Unlike black-box compilers, every intermediate stage (Tokens, AST, Symbol Table, TAC IR) is fully inspectable via dedicated CLI flags (--tokens, --ast, --symbols, --tac, --all).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257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3. Dual-Execution Architecture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Features both a Three-Address Code Virtual Machine (executing linearized IR) and an AST Tree-Walk Interpreter, allowing direct comparison of IR vs AST execution in compiler vivas.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931920"/>
            <a:ext cx="52578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069080"/>
            <a:ext cx="4892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EA580C"/>
                </a:solidFill>
              </a:defRPr>
            </a:pPr>
            <a:r>
              <a:t>4. Pinpoint Diagnostic Architecture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Multi-phase error trapping with exact line and column coordinates, detailed error classification (Lexical, Syntax, TypeError, UndeclaredVariable, RuntimeError), and panic-mode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Phase 3 Deliverables &amp; GitHub 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9304"/>
            <a:ext cx="4754880" cy="50200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Repository &amp; Deliverables Summary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GitHub Repository: </a:t>
            </a:r>
            <a:r>
              <a:rPr b="0" sz="1300">
                <a:solidFill>
                  <a:srgbClr val="0F172A"/>
                </a:solidFill>
              </a:rPr>
              <a:t>https://github.com/Udbhav-Tiwari16/EduScript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Active Branch: </a:t>
            </a:r>
            <a:r>
              <a:rPr b="0" sz="1300">
                <a:solidFill>
                  <a:srgbClr val="0F172A"/>
                </a:solidFill>
              </a:rPr>
              <a:t>main (All changes committed &amp; pushed)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Phase 3 Deliverables Complete: </a:t>
            </a:r>
            <a:r>
              <a:rPr b="0" sz="1300">
                <a:solidFill>
                  <a:srgbClr val="0F172A"/>
                </a:solidFill>
              </a:rPr>
              <a:t>✓ Complete Working Project
✓ Complete Source Code
✓ Test Cases &amp; Verified Results
✓ Screenshots / Output Evidence
✓ Final Presentation (.pptx)
✓ User Guide &amp; Documentation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Individual Project: </a:t>
            </a:r>
            <a:r>
              <a:rPr b="0" sz="1300">
                <a:solidFill>
                  <a:srgbClr val="0F172A"/>
                </a:solidFill>
              </a:rPr>
              <a:t>Sole author and developer: Udbhav Tiwari (Reg No: 24BCT0328).</a:t>
            </a:r>
          </a:p>
        </p:txBody>
      </p:sp>
      <p:pic>
        <p:nvPicPr>
          <p:cNvPr id="8" name="Picture 7" descr="14_git_statu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77440"/>
            <a:ext cx="5623560" cy="7673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10728655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EDUSCRIPT COMPILER DESIGN • PHASE 3: FINAL IMPLEMENTATION &amp;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457200"/>
            <a:ext cx="2133295" cy="32004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✓ PHASE 3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Phase 3 Conclusion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Comprehensive Implementation: </a:t>
            </a:r>
            <a:r>
              <a:rPr b="0" sz="1300">
                <a:solidFill>
                  <a:srgbClr val="0F172A"/>
                </a:solidFill>
              </a:rPr>
              <a:t>EduScript fulfills all theoretical and practical requirements of a complete compiler/interpreter pipeline.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Educational &amp; Modular: </a:t>
            </a:r>
            <a:r>
              <a:rPr b="0" sz="1300">
                <a:solidFill>
                  <a:srgbClr val="0F172A"/>
                </a:solidFill>
              </a:rPr>
              <a:t>Every stage is decoupled, inspectable, and built in pure Python standard library for maximum readability.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Fully Verified: </a:t>
            </a:r>
            <a:r>
              <a:rPr b="0" sz="1300">
                <a:solidFill>
                  <a:srgbClr val="0F172A"/>
                </a:solidFill>
              </a:rPr>
              <a:t>100% test pass rate across 12 automated test cases covering valid programs, custom keywords, and error handling.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Ready for Evaluation: </a:t>
            </a:r>
            <a:r>
              <a:rPr b="0" sz="1300">
                <a:solidFill>
                  <a:srgbClr val="0F172A"/>
                </a:solidFill>
              </a:rPr>
              <a:t>Complete source code committed and pushed to GitHub repository.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TAC Optimization Passes: </a:t>
            </a:r>
            <a:r>
              <a:rPr b="0" sz="1300">
                <a:solidFill>
                  <a:srgbClr val="0F172A"/>
                </a:solidFill>
              </a:rPr>
              <a:t>Dead code elimination, constant folding, constant propagation, and common subexpression elimination (CSE).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Bytecode / Assembly Target: </a:t>
            </a:r>
            <a:r>
              <a:rPr b="0" sz="1300">
                <a:solidFill>
                  <a:srgbClr val="0F172A"/>
                </a:solidFill>
              </a:rPr>
              <a:t>Compiling TAC to Python bytecode (.pyc) or LLVM IR for native machine execution.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User-Defined Functions &amp; Arrays: </a:t>
            </a:r>
            <a:r>
              <a:rPr b="0" sz="1300">
                <a:solidFill>
                  <a:srgbClr val="0F172A"/>
                </a:solidFill>
              </a:rPr>
              <a:t>Expanding runtime stack frames to support recursive function calls and array data structures.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Interactive Web Playground: </a:t>
            </a:r>
            <a:r>
              <a:rPr b="0" sz="1300">
                <a:solidFill>
                  <a:srgbClr val="0F172A"/>
                </a:solidFill>
              </a:rPr>
              <a:t>WebAssembly frontend allowing students to visualize AST trees and TAC steps interactively in a browser.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